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d40e6346394675" /><Relationship Type="http://schemas.openxmlformats.org/officeDocument/2006/relationships/extended-properties" Target="/docProps/app.xml" Id="R64d5dd85105d4e32" /><Relationship Type="http://schemas.openxmlformats.org/officeDocument/2006/relationships/officeDocument" Target="/ppt/presentation.xml" Id="R260bc4779e6c467f" /></Relationships>
</file>

<file path=ppt/presentation.xml><?xml version="1.0" encoding="utf-8"?>
<p:presentation xmlns:p="http://schemas.openxmlformats.org/presentationml/2006/main">
  <p:sldMasterIdLst>
    <p:sldMasterId xmlns:r="http://schemas.openxmlformats.org/officeDocument/2006/relationships" id="2147483648" r:id="R1f60b25a860d4e31"/>
  </p:sldMasterIdLst>
  <p:notesMasterIdLst>
    <p:notesMasterId xmlns:r="http://schemas.openxmlformats.org/officeDocument/2006/relationships" r:id="R415eaab20ced40ba"/>
  </p:notesMasterIdLst>
  <p:sldIdLst>
    <p:sldId xmlns:r="http://schemas.openxmlformats.org/officeDocument/2006/relationships" id="256" r:id="R4fdb17efdcae4c37"/>
    <p:sldId xmlns:r="http://schemas.openxmlformats.org/officeDocument/2006/relationships" id="257" r:id="Ra93a087a38b649ef"/>
    <p:sldId xmlns:r="http://schemas.openxmlformats.org/officeDocument/2006/relationships" id="258" r:id="R7c2ffcb279dd40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587d190e084200" /><Relationship Type="http://schemas.openxmlformats.org/officeDocument/2006/relationships/slideMaster" Target="/ppt/slideMasters/slideMaster1.xml" Id="R1f60b25a860d4e31" /><Relationship Type="http://schemas.openxmlformats.org/officeDocument/2006/relationships/notesMaster" Target="/ppt/notesMasters/notesMaster1.xml" Id="R415eaab20ced40ba" /><Relationship Type="http://schemas.openxmlformats.org/officeDocument/2006/relationships/presProps" Target="/ppt/presProps.xml" Id="R87bd1052efa64c9a" /><Relationship Type="http://schemas.openxmlformats.org/officeDocument/2006/relationships/tableStyles" Target="/ppt/tableStyles.xml" Id="Ree21c2b66e364584" /><Relationship Type="http://schemas.openxmlformats.org/officeDocument/2006/relationships/slide" Target="/ppt/slides/slide1.xml" Id="R4fdb17efdcae4c37" /><Relationship Type="http://schemas.openxmlformats.org/officeDocument/2006/relationships/slide" Target="/ppt/slides/slide2.xml" Id="Ra93a087a38b649ef" /><Relationship Type="http://schemas.openxmlformats.org/officeDocument/2006/relationships/slide" Target="/ppt/slides/slide3.xml" Id="R7c2ffcb279dd40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f47341ec9c4c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8b8ccb52a944a1" /><Relationship Type="http://schemas.openxmlformats.org/officeDocument/2006/relationships/notesMaster" Target="/ppt/notesMasters/notesMaster1.xml" Id="R33f2541f957b43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11de11f1d2485c" /><Relationship Type="http://schemas.openxmlformats.org/officeDocument/2006/relationships/notesMaster" Target="/ppt/notesMasters/notesMaster1.xml" Id="Rf115d676e29241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38c753b9f94cd8" /><Relationship Type="http://schemas.openxmlformats.org/officeDocument/2006/relationships/notesMaster" Target="/ppt/notesMasters/notesMaster1.xml" Id="Rdf76690cf74a44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sơ đồ đấu dây theo đầu nối/net: J1.1 GPIO25/DAC1 -&gt; R1 10 kΩ nối tiếp -&gt; N1/ADC_IN -&gt; J2.1 GPIO1/ADC1_CH0. Từ N1, R2 56 kΩ và C1 100 nF mắc song song xuống GND chung. J1.2 GND và J2.2 GND là mass chung. OLED J3: pin1 VCC -&gt; J2 3V3, pin2 GND -&gt; GND, pin3 SDA -&gt; GPIO8, pin4 SCL -&gt; GPIO9; module cấp 3,3 V, không cấp 5 V. Mỗi board cấp nguồn riêng bằng USB tương thích. Dùng mã chân GPIO trên nhãn bo; hình không nhằm chỉ vị trí lỗ vật lý vì layout clone khác nhau. Tài liệu Espressif xác nhận DAC ESP32 GPIO25 https://docs.espressif.com/projects/esp-idf/en/latest/esp32/api-reference/peripherals/dac.html ; GPIO1=ADC1_CH0 và GPIO8/9 là chân ADC-capable/general GPIO https://docs.espressif.com/projects/esp-hardware-design-guidelines/en/latest/esp32s3/schematic-checklist.html . N8R8 board memory specification https://docs.espressif.com/projects/esp-dev-kits/en/latest/esp32s3/esp32-s3-devkitc-1/user_guide_v1.1.html . Circuit-level wiring supports current 250 Hz electronic demo; TCN inference still requires firmware/sampling update as already noted in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đã đồng bộ với sơ đồ slide 1: R1=10 kΩ, R2=56 kΩ, C1=100 nF; cầu chia áp đưa tối đa 3,3 V xuống khoảng 2,8 V. N8R8 official board has 8 MB flash + 8 MB PSRAM https://docs.espressif.com/projects/esp-dev-kits/en/latest/esp32s3/esp32-s3-devkitc-1/user_guide_v1.1.html ; GPIO1 is ADC1_CH0 and ADC 12 dB nominal range is about 0–3.1 V https://docs.espressif.com/projects/esp-idf/en/latest/esp32s3/api-reference/peripherals/adc.html . Clone-board pin mapping can vary; verify silkscreen/module before ordering.</a:t>
            </a:r>
          </a:p>
          <a:p xmlns:a="http://schemas.openxmlformats.org/drawingml/2006/main">
            <a:br/>
            <a:br/>
            <a:r>
              <a:t>KIỂM THỬ MÔ PHỎNG (18/10/2026)</a:t>
            </a:r>
            <a:br/>
            <a:r>
              <a:t>Chạy python3 analysis/hardware_simulator/simulate_hil_rc.py. Mô hình dùng ECG_RECORD_R01/A02 (2.500 mẫu/ca ở 250 Hz), DAC 0–3,3 V lý tưởng, R1=10 kΩ, R2=56 kΩ, C1=100 nF, 12-bit ADC lý tưởng và lệch pha nguồn/thu 0,1–3,9 ms. Kết quả: gain=0,8485; tau=0,848 ms; fc=187,6 Hz; VADC peak danh định 2,800 V, góc R±5% cao nhất 2,841 V. Ở pha 0,1 ms, tương quan dạng sóng với DAC lý tưởng là 0,876 (r01) và 0,754 (a02); khi pha 3,9 ms gần 1. Suy ra điện áp không vượt 3,0 V mục tiêu trong mô hình, nhưng firmware lấy mẫu tự do 250 Hz không đồng bộ, nên kết quả dạng sóng phụ thuộc pha. ADC mean lý tưởng ca a02 ≈2.094 mã, dưới ngưỡng 2.150 của gate hiện tại; gate demo có thể không từ chối ca a02. Đây là mô phỏng tín hiệu và kiểm tra mã, chưa thay thế đo oscilloscope/ADC thật. Firmware hiện tại cũng chưa nạp/chạy TCN thật.</a:t>
            </a:r>
            <a:br/>
            <a:br/>
            <a:r>
              <a:t>GIÁ TRA CỨU (VNĐ, chưa gồm vận chuyển; giá/biến thể có thể đổi)</a:t>
            </a:r>
            <a:br/>
            <a:r>
              <a:t>J1 Shopee, ESP32 DevKit V1 ESP-WROOM-32, 109.000: https://shopee.vn/ESP32-DevKit-V1-ESP32-WROOM-32-WiFi-Bluetooth-Development-Board-%E2%80%93-Kit-Ph%C3%A1t-Tri%E1%BB%83n-IoT-Ch%C3%ADnh-H%C3%A3ng-i.65776741.42482058047</a:t>
            </a:r>
            <a:br/>
            <a:r>
              <a:t>J2 TMe, ESP32-S3 Dev dựa ESP32-S3-WROOM-1 N8R8, mã trang 2504, 250.000: https://tme.vn/Product.aspx?id=2504</a:t>
            </a:r>
            <a:br/>
            <a:r>
              <a:t>J3 Shopee PCBLab, SSD1306 0.96in 128x64 4-pin, 60.086: https://shopee.vn/M%C3%A0n-h%C3%ACnh-OLED-0.96-inch-I2C-SSD1306-128x64-giao-ti%E1%BA%BFp-I2C-4-ch%C3%A2n-VCC-GND-SCL-SDA-d%C3%B9ng-cho-Arduino-ESP32-STM32-i.1723076079.51514172829</a:t>
            </a:r>
            <a:br/>
            <a:r>
              <a:t>R1 10 kΩ and R2 56 kΩ, carbon film through-hole 1/4 W 5%, Thegioiic 55 each, MOQ 50 each; R2 seller code IC929: https://www.thegioiic.com/dien-tro-56-kohm-1-4w-5-4-vong-mau ; 10 kΩ listing: https://www.thegioiic.com/dien-tro-10-kohm-1-4w-5-4-vong-mau</a:t>
            </a:r>
            <a:br/>
            <a:r>
              <a:t>C1 ceramic 104 100 nF 50 V, Shopee 10 pcs 6.000: https://shopee.vn/T%E1%BB%A5-g%E1%BB%91m-104-100nF-50V-Ceramic-%2810pcs%29-i.29186330.43423148258</a:t>
            </a:r>
            <a:br/>
            <a:r>
              <a:t>Breadboard MB-102 830 tie points, 32.000: https://shopee.vn/Breadboard-MB-102-830-l%E1%BB%97-Nh%E1%BB%B1a-ABS-ch%E1%BA%A5t-l%C6%B0%E1%BB%A3ng-cao-i.120349161.5216095760 ; Dupont 40P, 21 cm, 31.900–39.900: https://shopee.vn/-B%E1%BB%99-S%E1%BB%A3i-D%C3%A2y-N%E1%BB%91i-40P-D%C3%A0i-21Cm-%28-2-%C4%90%E1%BA%A7u-%C4%90%E1%BB%B1c-C%C3%A1i-%29-D%C3%A2y-C%E1%BA%AFm-Test-M%E1%BA%A1ch--i.61435118.25088627856</a:t>
            </a:r>
            <a:br/>
            <a:r>
              <a:t>USB Micro-B data cable 1 m, Shopee 47.880: https://shopee.vn/C%C3%A1p-d%E1%BB%AF-li%E1%BB%87u-s%E1%BA%A1c-nhanh-USB-Micro-USB-1m-i.376801883.28332691601 ; USB-A to USB-C data cable 1 m, USAMS Shopee 79.420: https://shopee.vn/Usams-D%C3%A2y-C%C3%A1p-S%E1%BA%A1c-Nhanh-Truy%E1%BB%81n-D%E1%BB%AF-Li%E1%BB%87u-%C4%90%E1%BA%A7u-USB-Type-C-D%C3%A0i-1M-D%C3%A0nh-Cho-%C4%90i%E1%BB%87n-Tho%E1%BA%A1i-i.408923716.22343546073</a:t>
            </a:r>
            <a:br/>
            <a:r>
              <a:t>ESP32 DAC GPIO25 official source: https://docs.espressif.com/projects/esp-idf/en/latest/esp32/api-reference/peripherals/dac.html ; ESP32-S3 GPIO1 ADC1_CH0 and calibration caution: https://docs.espressif.com/projects/esp-hardware-design-guidelines/en/latest/esp32s3/schematic-checklist.html ; N8R8 ordering code and board USB supply options: https://documentation.espressif.com/esp-dev-kits/en/latest/esp32s3/esp32-s3-devkitc-1/user_guide_v1.1.html</a:t>
            </a:r>
            <a:br/>
            <a:r>
              <a:t>*Total is approximately 622.000 VND including minimum resistor packs; excludes shipping and marketplace promotions.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tiết đối chiếu repo: analysis/KIENTRUC.md ghi pipeline huấn luyện/chấm ở 1.000 Hz và phép biến đổi xuống 250 Hz; analysis/hardware_simulator/esp32_patient_simulator.ino hiện phát 250 Hz bằng micros() và in Serial mỗi mẫu; esp32s3_receiver_oled.ino đặt current_fhr = 142, quyết định safe theo trung bình ADC, không gọi mô hình. Vì vậy không được mô tả kết quả firmware demo là kết quả HIL của TCN. Với ADC, 12 dB có dải đo danh định 0–3,1 V; divider giảm đầu ra DAC để có biên an toàn: https://docs.espressif.com/projects/esp-idf/en/latest/esp32s3/api-reference/peripherals/adc.html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e557a9a67341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1632f637da4d7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0e1b9cd344646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b5b499e35f4d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3e81abd59744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73eef8110948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17AF7-5747-4B58-9C4B-AEBF2F4F4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C421D9-42B1-4A5A-8F97-A47FD6C9B6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E1114-DA95-4F38-B42D-9CEC0376B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B9BC-8E38-46B8-B078-03FA44A8F2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845838-2289-4A03-B80E-A2CEE791C5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84CF21-25A6-4FC9-B47B-7F308177D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E074DC-30EB-4646-B7C9-2588674B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0CE03-AB36-4932-8556-AE82B8BF2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F33C01-E35B-48FB-9866-07EEB4448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699E3-90FD-4BC3-BFB7-00CA23F89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5065cbd2554b1c" /><Relationship Type="http://schemas.openxmlformats.org/officeDocument/2006/relationships/slideLayout" Target="/ppt/slideLayouts/slideLayout1.xml" Id="R6aa2489e49ee4022" /><Relationship Type="http://schemas.openxmlformats.org/officeDocument/2006/relationships/slideLayout" Target="/ppt/slideLayouts/slideLayout2.xml" Id="R8f06547af9f34509" /><Relationship Type="http://schemas.openxmlformats.org/officeDocument/2006/relationships/slideLayout" Target="/ppt/slideLayouts/slideLayout3.xml" Id="Ra1258d8ba92940ef" /><Relationship Type="http://schemas.openxmlformats.org/officeDocument/2006/relationships/slideLayout" Target="/ppt/slideLayouts/slideLayout4.xml" Id="R3b60998383bb4ddc" /><Relationship Type="http://schemas.openxmlformats.org/officeDocument/2006/relationships/slideLayout" Target="/ppt/slideLayouts/slideLayout5.xml" Id="Rf2e04b0415154903" /><Relationship Type="http://schemas.openxmlformats.org/officeDocument/2006/relationships/slideLayout" Target="/ppt/slideLayouts/slideLayout6.xml" Id="Rc6e0a4b1bd9d43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a2489e49ee4022"/>
    <p:sldLayoutId xmlns:r="http://schemas.openxmlformats.org/officeDocument/2006/relationships" id="2147483650" r:id="R8f06547af9f34509"/>
    <p:sldLayoutId xmlns:r="http://schemas.openxmlformats.org/officeDocument/2006/relationships" id="2147483651" r:id="Ra1258d8ba92940ef"/>
    <p:sldLayoutId xmlns:r="http://schemas.openxmlformats.org/officeDocument/2006/relationships" id="2147483652" r:id="R3b60998383bb4ddc"/>
    <p:sldLayoutId xmlns:r="http://schemas.openxmlformats.org/officeDocument/2006/relationships" id="2147483653" r:id="Rf2e04b0415154903"/>
    <p:sldLayoutId xmlns:r="http://schemas.openxmlformats.org/officeDocument/2006/relationships" id="2147483654" r:id="Rc6e0a4b1bd9d43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7b12e1408584aee" /><Relationship Type="http://schemas.openxmlformats.org/officeDocument/2006/relationships/notesSlide" Target="/ppt/notesSlides/notesSlide1.xml" Id="R1b6d20188ebc41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aa3459c822c4d31" /><Relationship Type="http://schemas.openxmlformats.org/officeDocument/2006/relationships/notesSlide" Target="/ppt/notesSlides/notesSlide2.xml" Id="R9a3d9712783342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188c2c79fa4c5e" /><Relationship Type="http://schemas.openxmlformats.org/officeDocument/2006/relationships/notesSlide" Target="/ppt/notesSlides/notesSlide3.xml" Id="R9037256b30174c00" /></Relationships>
</file>

<file path=ppt/slides/slide1.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30" name="slide-1-title">
            <a:extLst xmlns:a="http://schemas.openxmlformats.org/drawingml/2006/main">
              <a:ext uri="{FF2B5EF4-FFF2-40B4-BE49-F238E27FC236}">
                <a16:creationId xmlns:a16="http://schemas.microsoft.com/office/drawing/2014/main" id="{56DD0CE9-7284-4D17-BE8B-D75C7B54369C}"/>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2700" b="1">
                <a:solidFill>
                  <a:srgbClr val="11232B"/>
                </a:solidFill>
                <a:latin typeface="Arial"/>
                <a:ea typeface="Arial"/>
                <a:cs typeface="Arial"/>
              </a:defRPr>
            </a:pPr>
            <a:r>
              <a:rPr sz="2700" b="1">
                <a:solidFill>
                  <a:srgbClr val="11232B"/>
                </a:solidFill>
                <a:latin typeface="Arial"/>
                <a:ea typeface="Arial"/>
                <a:cs typeface="Arial"/>
              </a:rPr>
              <a:t>Sơ đồ đấu dây HIL</a:t>
            </a:r>
          </a:p>
        </p:txBody>
      </p:sp>
      <p:sp>
        <p:nvSpPr>
          <p:cNvPr id="2" name="slide-1-strap">
            <a:extLst xmlns:a="http://schemas.openxmlformats.org/drawingml/2006/main">
              <a:ext uri="{FF2B5EF4-FFF2-40B4-BE49-F238E27FC236}">
                <a16:creationId xmlns:a16="http://schemas.microsoft.com/office/drawing/2014/main" id="{A5EA16DB-4643-41A2-9C0D-A03D24E4A068}"/>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Ký hiệu IEC, mã đầu nối J1–J3, số chân và màu dây để lắp theo từng điểm đấu.</a:t>
            </a:r>
          </a:p>
        </p:txBody>
      </p:sp>
      <p:sp>
        <p:nvSpPr>
          <p:cNvPr id="3" name="slide-1-header-rule">
            <a:extLst xmlns:a="http://schemas.openxmlformats.org/drawingml/2006/main">
              <a:ext uri="{FF2B5EF4-FFF2-40B4-BE49-F238E27FC236}">
                <a16:creationId xmlns:a16="http://schemas.microsoft.com/office/drawing/2014/main" id="{3B864213-296F-4FFB-8AC3-5BAB9DA6D26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1-index">
            <a:extLst xmlns:a="http://schemas.openxmlformats.org/drawingml/2006/main">
              <a:ext uri="{FF2B5EF4-FFF2-40B4-BE49-F238E27FC236}">
                <a16:creationId xmlns:a16="http://schemas.microsoft.com/office/drawing/2014/main" id="{CD499A6F-B375-49FA-B60D-58ACB500792C}"/>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50636A"/>
                </a:solidFill>
                <a:latin typeface="Arial"/>
                <a:ea typeface="Arial"/>
                <a:cs typeface="Arial"/>
              </a:defRPr>
            </a:pPr>
            <a:r>
              <a:rPr sz="825" b="1">
                <a:solidFill>
                  <a:srgbClr val="50636A"/>
                </a:solidFill>
                <a:latin typeface="Arial"/>
                <a:ea typeface="Arial"/>
                <a:cs typeface="Arial"/>
              </a:rPr>
              <a:t>RELYFETAL   /   HIL PLAN                                      01  /  03</a:t>
            </a:r>
          </a:p>
        </p:txBody>
      </p:sp>
      <p:sp>
        <p:nvSpPr>
          <p:cNvPr id="31" name="j1-box">
            <a:extLst xmlns:a="http://schemas.openxmlformats.org/drawingml/2006/main">
              <a:ext uri="{FF2B5EF4-FFF2-40B4-BE49-F238E27FC236}">
                <a16:creationId xmlns:a16="http://schemas.microsoft.com/office/drawing/2014/main" id="{5DC31784-4DF3-4457-B387-F7F10A39D1C7}"/>
              </a:ext>
            </a:extLst>
          </p:cNvPr>
          <p:cNvSpPr>
            <a:spLocks xmlns:a="http://schemas.openxmlformats.org/drawingml/2006/main" noGrp="1"/>
          </p:cNvSpPr>
          <p:nvPr/>
        </p:nvSpPr>
        <p:spPr>
          <a:xfrm xmlns:a="http://schemas.openxmlformats.org/drawingml/2006/main">
            <a:off x="628650" y="2228850"/>
            <a:ext cx="1809750" cy="1704975"/>
          </a:xfrm>
          <a:prstGeom xmlns:a="http://schemas.openxmlformats.org/drawingml/2006/main" prst="rect">
            <a:avLst/>
          </a:prstGeom>
          <a:solidFill xmlns:a="http://schemas.openxmlformats.org/drawingml/2006/main">
            <a:srgbClr val="FFFFFF"/>
          </a:solidFill>
          <a:ln xmlns:a="http://schemas.openxmlformats.org/drawingml/2006/main" w="19050">
            <a:solidFill>
              <a:srgbClr val="102A33"/>
            </a:solidFill>
            <a:prstDash val="solid"/>
          </a:ln>
        </p:spPr>
      </p:sp>
      <p:sp>
        <p:nvSpPr>
          <p:cNvPr id="32" name="j1-title">
            <a:extLst xmlns:a="http://schemas.openxmlformats.org/drawingml/2006/main">
              <a:ext uri="{FF2B5EF4-FFF2-40B4-BE49-F238E27FC236}">
                <a16:creationId xmlns:a16="http://schemas.microsoft.com/office/drawing/2014/main" id="{0D67B030-83E7-40AE-A365-399DF3B6C6E5}"/>
              </a:ext>
            </a:extLst>
          </p:cNvPr>
          <p:cNvSpPr>
            <a:spLocks xmlns:a="http://schemas.openxmlformats.org/drawingml/2006/main" noGrp="1"/>
          </p:cNvSpPr>
          <p:nvPr/>
        </p:nvSpPr>
        <p:spPr>
          <a:xfrm xmlns:a="http://schemas.openxmlformats.org/drawingml/2006/main">
            <a:off x="742950" y="2314575"/>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A33"/>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A33"/>
                </a:solidFill>
                <a:latin typeface="Arial"/>
                <a:ea typeface="Arial"/>
                <a:cs typeface="Arial"/>
              </a:defRPr>
            </a:pPr>
            <a:r>
              <a:rPr sz="1200" b="1">
                <a:solidFill>
                  <a:srgbClr val="102A33"/>
                </a:solidFill>
                <a:latin typeface="Arial"/>
                <a:ea typeface="Arial"/>
                <a:cs typeface="Arial"/>
              </a:rPr>
              <a:t>J1  ·  BỘ PHÁT</a:t>
            </a:r>
          </a:p>
        </p:txBody>
      </p:sp>
      <p:sp>
        <p:nvSpPr>
          <p:cNvPr id="33" name="j1-sub">
            <a:extLst xmlns:a="http://schemas.openxmlformats.org/drawingml/2006/main">
              <a:ext uri="{FF2B5EF4-FFF2-40B4-BE49-F238E27FC236}">
                <a16:creationId xmlns:a16="http://schemas.microsoft.com/office/drawing/2014/main" id="{AC838E5C-CA47-47E2-BB57-46B9E13B8814}"/>
              </a:ext>
            </a:extLst>
          </p:cNvPr>
          <p:cNvSpPr>
            <a:spLocks xmlns:a="http://schemas.openxmlformats.org/drawingml/2006/main" noGrp="1"/>
          </p:cNvSpPr>
          <p:nvPr/>
        </p:nvSpPr>
        <p:spPr>
          <a:xfrm xmlns:a="http://schemas.openxmlformats.org/drawingml/2006/main">
            <a:off x="742950" y="2571750"/>
            <a:ext cx="15811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3721"/>
          </a:bodyPr>
          <a:lstStyle xmlns:a="http://schemas.openxmlformats.org/drawingml/2006/main">
            <a:defPPr algn="l">
              <a:defRPr sz="900" b="0">
                <a:solidFill>
                  <a:srgbClr val="50636A"/>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0636A"/>
                </a:solidFill>
                <a:latin typeface="Arial"/>
                <a:ea typeface="Arial"/>
                <a:cs typeface="Arial"/>
              </a:rPr>
              <a:t>ESP32 DevKit V1 / ESP-WROOM-32</a:t>
            </a:r>
          </a:p>
        </p:txBody>
      </p:sp>
      <p:sp>
        <p:nvSpPr>
          <p:cNvPr id="34" name="j1-pin1">
            <a:extLst xmlns:a="http://schemas.openxmlformats.org/drawingml/2006/main">
              <a:ext uri="{FF2B5EF4-FFF2-40B4-BE49-F238E27FC236}">
                <a16:creationId xmlns:a16="http://schemas.microsoft.com/office/drawing/2014/main" id="{C92C9553-6D9F-4BEE-B2DB-D097C1F26F7F}"/>
              </a:ext>
            </a:extLst>
          </p:cNvPr>
          <p:cNvSpPr>
            <a:spLocks xmlns:a="http://schemas.openxmlformats.org/drawingml/2006/main" noGrp="1"/>
          </p:cNvSpPr>
          <p:nvPr/>
        </p:nvSpPr>
        <p:spPr>
          <a:xfrm xmlns:a="http://schemas.openxmlformats.org/drawingml/2006/main">
            <a:off x="819150" y="2867025"/>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050" b="1">
                <a:solidFill>
                  <a:srgbClr val="172A30"/>
                </a:solidFill>
                <a:latin typeface="Arial"/>
                <a:ea typeface="Arial"/>
                <a:cs typeface="Arial"/>
              </a:rPr>
              <a:t>1  GPIO25 / DAC1</a:t>
            </a:r>
          </a:p>
        </p:txBody>
      </p:sp>
      <p:sp>
        <p:nvSpPr>
          <p:cNvPr id="35" name="j1-t1">
            <a:extLst xmlns:a="http://schemas.openxmlformats.org/drawingml/2006/main">
              <a:ext uri="{FF2B5EF4-FFF2-40B4-BE49-F238E27FC236}">
                <a16:creationId xmlns:a16="http://schemas.microsoft.com/office/drawing/2014/main" id="{67FEA508-6936-446D-BE87-EE76B8CB5AB1}"/>
              </a:ext>
            </a:extLst>
          </p:cNvPr>
          <p:cNvSpPr>
            <a:spLocks xmlns:a="http://schemas.openxmlformats.org/drawingml/2006/main" noGrp="1"/>
          </p:cNvSpPr>
          <p:nvPr/>
        </p:nvSpPr>
        <p:spPr>
          <a:xfrm xmlns:a="http://schemas.openxmlformats.org/drawingml/2006/main">
            <a:off x="2390775" y="293370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36" name="j1-pin2">
            <a:extLst xmlns:a="http://schemas.openxmlformats.org/drawingml/2006/main">
              <a:ext uri="{FF2B5EF4-FFF2-40B4-BE49-F238E27FC236}">
                <a16:creationId xmlns:a16="http://schemas.microsoft.com/office/drawing/2014/main" id="{42D61450-8C3A-4050-BEDA-3433276D8114}"/>
              </a:ext>
            </a:extLst>
          </p:cNvPr>
          <p:cNvSpPr>
            <a:spLocks xmlns:a="http://schemas.openxmlformats.org/drawingml/2006/main" noGrp="1"/>
          </p:cNvSpPr>
          <p:nvPr/>
        </p:nvSpPr>
        <p:spPr>
          <a:xfrm xmlns:a="http://schemas.openxmlformats.org/drawingml/2006/main">
            <a:off x="819150" y="3505200"/>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050" b="1">
                <a:solidFill>
                  <a:srgbClr val="172A30"/>
                </a:solidFill>
                <a:latin typeface="Arial"/>
                <a:ea typeface="Arial"/>
                <a:cs typeface="Arial"/>
              </a:rPr>
              <a:t>2  GND</a:t>
            </a:r>
          </a:p>
        </p:txBody>
      </p:sp>
      <p:sp>
        <p:nvSpPr>
          <p:cNvPr id="37" name="j1-t2">
            <a:extLst xmlns:a="http://schemas.openxmlformats.org/drawingml/2006/main">
              <a:ext uri="{FF2B5EF4-FFF2-40B4-BE49-F238E27FC236}">
                <a16:creationId xmlns:a16="http://schemas.microsoft.com/office/drawing/2014/main" id="{65C886B4-FDC0-4E07-A1D1-19BC83FB907F}"/>
              </a:ext>
            </a:extLst>
          </p:cNvPr>
          <p:cNvSpPr>
            <a:spLocks xmlns:a="http://schemas.openxmlformats.org/drawingml/2006/main" noGrp="1"/>
          </p:cNvSpPr>
          <p:nvPr/>
        </p:nvSpPr>
        <p:spPr>
          <a:xfrm xmlns:a="http://schemas.openxmlformats.org/drawingml/2006/main">
            <a:off x="2390775" y="3571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38" name="j1-usb">
            <a:extLst xmlns:a="http://schemas.openxmlformats.org/drawingml/2006/main">
              <a:ext uri="{FF2B5EF4-FFF2-40B4-BE49-F238E27FC236}">
                <a16:creationId xmlns:a16="http://schemas.microsoft.com/office/drawing/2014/main" id="{BDDDF886-F20F-40E1-BF67-C1F393ED1BBA}"/>
              </a:ext>
            </a:extLst>
          </p:cNvPr>
          <p:cNvSpPr>
            <a:spLocks xmlns:a="http://schemas.openxmlformats.org/drawingml/2006/main" noGrp="1"/>
          </p:cNvSpPr>
          <p:nvPr/>
        </p:nvSpPr>
        <p:spPr>
          <a:xfrm xmlns:a="http://schemas.openxmlformats.org/drawingml/2006/main">
            <a:off x="790575" y="3724275"/>
            <a:ext cx="1524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825" b="0">
                <a:solidFill>
                  <a:srgbClr val="50636A"/>
                </a:solidFill>
                <a:latin typeface="Arial"/>
                <a:ea typeface="Arial"/>
                <a:cs typeface="Arial"/>
              </a:rPr>
              <a:t>USB 5 V  ·  Micro-USB</a:t>
            </a:r>
          </a:p>
        </p:txBody>
      </p:sp>
      <p:sp>
        <p:nvSpPr>
          <p:cNvPr id="39" name="r1-ref">
            <a:extLst xmlns:a="http://schemas.openxmlformats.org/drawingml/2006/main">
              <a:ext uri="{FF2B5EF4-FFF2-40B4-BE49-F238E27FC236}">
                <a16:creationId xmlns:a16="http://schemas.microsoft.com/office/drawing/2014/main" id="{37B71B4D-0DE4-4556-8FBC-4F6A9FF1BF0A}"/>
              </a:ext>
            </a:extLst>
          </p:cNvPr>
          <p:cNvSpPr>
            <a:spLocks xmlns:a="http://schemas.openxmlformats.org/drawingml/2006/main" noGrp="1"/>
          </p:cNvSpPr>
          <p:nvPr/>
        </p:nvSpPr>
        <p:spPr>
          <a:xfrm xmlns:a="http://schemas.openxmlformats.org/drawingml/2006/main">
            <a:off x="3019425" y="2324100"/>
            <a:ext cx="1809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A30"/>
                </a:solidFill>
                <a:latin typeface="Arial"/>
                <a:ea typeface="Arial"/>
                <a:cs typeface="Arial"/>
              </a:defRPr>
            </a:defPPr>
            <a:lvl1pPr algn="ctr">
              <a:buNone/>
              <a:defRPr sz="975" b="1">
                <a:solidFill>
                  <a:srgbClr val="172A30"/>
                </a:solidFill>
                <a:latin typeface="Arial"/>
                <a:ea typeface="Arial"/>
                <a:cs typeface="Arial"/>
              </a:defRPr>
            </a:lvl1pPr>
            <a:lvl2pPr algn="ctr">
              <a:buNone/>
              <a:defRPr sz="975" b="1">
                <a:solidFill>
                  <a:srgbClr val="172A30"/>
                </a:solidFill>
                <a:latin typeface="Arial"/>
                <a:ea typeface="Arial"/>
                <a:cs typeface="Arial"/>
              </a:defRPr>
            </a:lvl2pPr>
            <a:lvl3pPr algn="ctr">
              <a:buNone/>
              <a:defRPr sz="975" b="1">
                <a:solidFill>
                  <a:srgbClr val="172A30"/>
                </a:solidFill>
                <a:latin typeface="Arial"/>
                <a:ea typeface="Arial"/>
                <a:cs typeface="Arial"/>
              </a:defRPr>
            </a:lvl3pPr>
            <a:lvl4pPr algn="ctr">
              <a:buNone/>
              <a:defRPr sz="975" b="1">
                <a:solidFill>
                  <a:srgbClr val="172A30"/>
                </a:solidFill>
                <a:latin typeface="Arial"/>
                <a:ea typeface="Arial"/>
                <a:cs typeface="Arial"/>
              </a:defRPr>
            </a:lvl4pPr>
            <a:lvl5pPr algn="ctr">
              <a:buNone/>
              <a:defRPr sz="975" b="1">
                <a:solidFill>
                  <a:srgbClr val="172A30"/>
                </a:solidFill>
                <a:latin typeface="Arial"/>
                <a:ea typeface="Arial"/>
                <a:cs typeface="Arial"/>
              </a:defRPr>
            </a:lvl5pPr>
            <a:lvl6pPr algn="ctr">
              <a:buNone/>
              <a:defRPr sz="975" b="1">
                <a:solidFill>
                  <a:srgbClr val="172A30"/>
                </a:solidFill>
                <a:latin typeface="Arial"/>
                <a:ea typeface="Arial"/>
                <a:cs typeface="Arial"/>
              </a:defRPr>
            </a:lvl6pPr>
            <a:lvl7pPr algn="ctr">
              <a:buNone/>
              <a:defRPr sz="975" b="1">
                <a:solidFill>
                  <a:srgbClr val="172A30"/>
                </a:solidFill>
                <a:latin typeface="Arial"/>
                <a:ea typeface="Arial"/>
                <a:cs typeface="Arial"/>
              </a:defRPr>
            </a:lvl7pPr>
            <a:lvl8pPr algn="ctr">
              <a:buNone/>
              <a:defRPr sz="975" b="1">
                <a:solidFill>
                  <a:srgbClr val="172A30"/>
                </a:solidFill>
                <a:latin typeface="Arial"/>
                <a:ea typeface="Arial"/>
                <a:cs typeface="Arial"/>
              </a:defRPr>
            </a:lvl8pPr>
            <a:lvl9pPr algn="ctr">
              <a:buNone/>
              <a:defRPr sz="975" b="1">
                <a:solidFill>
                  <a:srgbClr val="172A30"/>
                </a:solidFill>
                <a:latin typeface="Arial"/>
                <a:ea typeface="Arial"/>
                <a:cs typeface="Arial"/>
              </a:defRPr>
            </a:lvl9pPr>
          </a:lstStyle>
          <a:p xmlns:a="http://schemas.openxmlformats.org/drawingml/2006/main">
            <a:pPr algn="ctr">
              <a:buNone/>
              <a:defRPr sz="975" b="1">
                <a:solidFill>
                  <a:srgbClr val="172A30"/>
                </a:solidFill>
                <a:latin typeface="Arial"/>
                <a:ea typeface="Arial"/>
                <a:cs typeface="Arial"/>
              </a:defRPr>
            </a:pPr>
            <a:r>
              <a:rPr sz="975" b="1">
                <a:solidFill>
                  <a:srgbClr val="172A30"/>
                </a:solidFill>
                <a:latin typeface="Arial"/>
                <a:ea typeface="Arial"/>
                <a:cs typeface="Arial"/>
              </a:rPr>
              <a:t>R1  ·  10 kΩ  ·  ±5%</a:t>
            </a:r>
          </a:p>
        </p:txBody>
      </p:sp>
      <p:sp>
        <p:nvSpPr>
          <p:cNvPr id="40" name="j1-to-r1">
            <a:extLst xmlns:a="http://schemas.openxmlformats.org/drawingml/2006/main">
              <a:ext uri="{FF2B5EF4-FFF2-40B4-BE49-F238E27FC236}">
                <a16:creationId xmlns:a16="http://schemas.microsoft.com/office/drawing/2014/main" id="{3994DBBC-939B-49A8-A625-70A67ED5F87B}"/>
              </a:ext>
            </a:extLst>
          </p:cNvPr>
          <p:cNvSpPr>
            <a:spLocks xmlns:a="http://schemas.openxmlformats.org/drawingml/2006/main" noGrp="1"/>
          </p:cNvSpPr>
          <p:nvPr/>
        </p:nvSpPr>
        <p:spPr>
          <a:xfrm xmlns:a="http://schemas.openxmlformats.org/drawingml/2006/main">
            <a:off x="2486025" y="2981325"/>
            <a:ext cx="6096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1" name="r1-iec">
            <a:extLst xmlns:a="http://schemas.openxmlformats.org/drawingml/2006/main">
              <a:ext uri="{FF2B5EF4-FFF2-40B4-BE49-F238E27FC236}">
                <a16:creationId xmlns:a16="http://schemas.microsoft.com/office/drawing/2014/main" id="{BD6B8624-A174-404A-93A3-6C45916F61C9}"/>
              </a:ext>
            </a:extLst>
          </p:cNvPr>
          <p:cNvSpPr>
            <a:spLocks xmlns:a="http://schemas.openxmlformats.org/drawingml/2006/main" noGrp="1"/>
          </p:cNvSpPr>
          <p:nvPr/>
        </p:nvSpPr>
        <p:spPr>
          <a:xfrm xmlns:a="http://schemas.openxmlformats.org/drawingml/2006/main">
            <a:off x="3095625" y="2800350"/>
            <a:ext cx="914400" cy="361950"/>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42" name="r1-to-n1">
            <a:extLst xmlns:a="http://schemas.openxmlformats.org/drawingml/2006/main">
              <a:ext uri="{FF2B5EF4-FFF2-40B4-BE49-F238E27FC236}">
                <a16:creationId xmlns:a16="http://schemas.microsoft.com/office/drawing/2014/main" id="{9477C824-CFDE-49D8-84BD-13A4C897E765}"/>
              </a:ext>
            </a:extLst>
          </p:cNvPr>
          <p:cNvSpPr>
            <a:spLocks xmlns:a="http://schemas.openxmlformats.org/drawingml/2006/main" noGrp="1"/>
          </p:cNvSpPr>
          <p:nvPr/>
        </p:nvSpPr>
        <p:spPr>
          <a:xfrm xmlns:a="http://schemas.openxmlformats.org/drawingml/2006/main">
            <a:off x="4010025" y="2981325"/>
            <a:ext cx="5715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3" name="n1-label">
            <a:extLst xmlns:a="http://schemas.openxmlformats.org/drawingml/2006/main">
              <a:ext uri="{FF2B5EF4-FFF2-40B4-BE49-F238E27FC236}">
                <a16:creationId xmlns:a16="http://schemas.microsoft.com/office/drawing/2014/main" id="{232A3617-E200-474A-B41A-36E73F02ABC8}"/>
              </a:ext>
            </a:extLst>
          </p:cNvPr>
          <p:cNvSpPr>
            <a:spLocks xmlns:a="http://schemas.openxmlformats.org/drawingml/2006/main" noGrp="1"/>
          </p:cNvSpPr>
          <p:nvPr/>
        </p:nvSpPr>
        <p:spPr>
          <a:xfrm xmlns:a="http://schemas.openxmlformats.org/drawingml/2006/main">
            <a:off x="4371975" y="264795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18794E"/>
                </a:solidFill>
                <a:latin typeface="Arial"/>
                <a:ea typeface="Arial"/>
                <a:cs typeface="Arial"/>
              </a:defRPr>
            </a:defPPr>
            <a:lvl1pPr algn="ctr">
              <a:buNone/>
              <a:defRPr sz="900" b="1">
                <a:solidFill>
                  <a:srgbClr val="18794E"/>
                </a:solidFill>
                <a:latin typeface="Arial"/>
                <a:ea typeface="Arial"/>
                <a:cs typeface="Arial"/>
              </a:defRPr>
            </a:lvl1pPr>
            <a:lvl2pPr algn="ctr">
              <a:buNone/>
              <a:defRPr sz="900" b="1">
                <a:solidFill>
                  <a:srgbClr val="18794E"/>
                </a:solidFill>
                <a:latin typeface="Arial"/>
                <a:ea typeface="Arial"/>
                <a:cs typeface="Arial"/>
              </a:defRPr>
            </a:lvl2pPr>
            <a:lvl3pPr algn="ctr">
              <a:buNone/>
              <a:defRPr sz="900" b="1">
                <a:solidFill>
                  <a:srgbClr val="18794E"/>
                </a:solidFill>
                <a:latin typeface="Arial"/>
                <a:ea typeface="Arial"/>
                <a:cs typeface="Arial"/>
              </a:defRPr>
            </a:lvl3pPr>
            <a:lvl4pPr algn="ctr">
              <a:buNone/>
              <a:defRPr sz="900" b="1">
                <a:solidFill>
                  <a:srgbClr val="18794E"/>
                </a:solidFill>
                <a:latin typeface="Arial"/>
                <a:ea typeface="Arial"/>
                <a:cs typeface="Arial"/>
              </a:defRPr>
            </a:lvl4pPr>
            <a:lvl5pPr algn="ctr">
              <a:buNone/>
              <a:defRPr sz="900" b="1">
                <a:solidFill>
                  <a:srgbClr val="18794E"/>
                </a:solidFill>
                <a:latin typeface="Arial"/>
                <a:ea typeface="Arial"/>
                <a:cs typeface="Arial"/>
              </a:defRPr>
            </a:lvl5pPr>
            <a:lvl6pPr algn="ctr">
              <a:buNone/>
              <a:defRPr sz="900" b="1">
                <a:solidFill>
                  <a:srgbClr val="18794E"/>
                </a:solidFill>
                <a:latin typeface="Arial"/>
                <a:ea typeface="Arial"/>
                <a:cs typeface="Arial"/>
              </a:defRPr>
            </a:lvl6pPr>
            <a:lvl7pPr algn="ctr">
              <a:buNone/>
              <a:defRPr sz="900" b="1">
                <a:solidFill>
                  <a:srgbClr val="18794E"/>
                </a:solidFill>
                <a:latin typeface="Arial"/>
                <a:ea typeface="Arial"/>
                <a:cs typeface="Arial"/>
              </a:defRPr>
            </a:lvl7pPr>
            <a:lvl8pPr algn="ctr">
              <a:buNone/>
              <a:defRPr sz="900" b="1">
                <a:solidFill>
                  <a:srgbClr val="18794E"/>
                </a:solidFill>
                <a:latin typeface="Arial"/>
                <a:ea typeface="Arial"/>
                <a:cs typeface="Arial"/>
              </a:defRPr>
            </a:lvl8pPr>
            <a:lvl9pPr algn="ctr">
              <a:buNone/>
              <a:defRPr sz="900" b="1">
                <a:solidFill>
                  <a:srgbClr val="18794E"/>
                </a:solidFill>
                <a:latin typeface="Arial"/>
                <a:ea typeface="Arial"/>
                <a:cs typeface="Arial"/>
              </a:defRPr>
            </a:lvl9pPr>
          </a:lstStyle>
          <a:p xmlns:a="http://schemas.openxmlformats.org/drawingml/2006/main">
            <a:pPr algn="ctr">
              <a:buNone/>
              <a:defRPr sz="900" b="1">
                <a:solidFill>
                  <a:srgbClr val="18794E"/>
                </a:solidFill>
                <a:latin typeface="Arial"/>
                <a:ea typeface="Arial"/>
                <a:cs typeface="Arial"/>
              </a:defRPr>
            </a:pPr>
            <a:r>
              <a:rPr sz="900" b="1">
                <a:solidFill>
                  <a:srgbClr val="18794E"/>
                </a:solidFill>
                <a:latin typeface="Arial"/>
                <a:ea typeface="Arial"/>
                <a:cs typeface="Arial"/>
              </a:rPr>
              <a:t>N1  ·  ADC_IN</a:t>
            </a:r>
          </a:p>
        </p:txBody>
      </p:sp>
      <p:sp>
        <p:nvSpPr>
          <p:cNvPr id="44" name="n1-dot">
            <a:extLst xmlns:a="http://schemas.openxmlformats.org/drawingml/2006/main">
              <a:ext uri="{FF2B5EF4-FFF2-40B4-BE49-F238E27FC236}">
                <a16:creationId xmlns:a16="http://schemas.microsoft.com/office/drawing/2014/main" id="{1C3CA02E-9255-41E1-A742-949682703BCF}"/>
              </a:ext>
            </a:extLst>
          </p:cNvPr>
          <p:cNvSpPr>
            <a:spLocks xmlns:a="http://schemas.openxmlformats.org/drawingml/2006/main" noGrp="1"/>
          </p:cNvSpPr>
          <p:nvPr/>
        </p:nvSpPr>
        <p:spPr>
          <a:xfrm xmlns:a="http://schemas.openxmlformats.org/drawingml/2006/main">
            <a:off x="45339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45" name="n1-to-j2-adc">
            <a:extLst xmlns:a="http://schemas.openxmlformats.org/drawingml/2006/main">
              <a:ext uri="{FF2B5EF4-FFF2-40B4-BE49-F238E27FC236}">
                <a16:creationId xmlns:a16="http://schemas.microsoft.com/office/drawing/2014/main" id="{7C8E42A7-DBD3-4416-8D94-9E43DB656BB6}"/>
              </a:ext>
            </a:extLst>
          </p:cNvPr>
          <p:cNvSpPr>
            <a:spLocks xmlns:a="http://schemas.openxmlformats.org/drawingml/2006/main" noGrp="1"/>
          </p:cNvSpPr>
          <p:nvPr/>
        </p:nvSpPr>
        <p:spPr>
          <a:xfrm xmlns:a="http://schemas.openxmlformats.org/drawingml/2006/main">
            <a:off x="4581525" y="2981325"/>
            <a:ext cx="2543175"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6" name="adc-net-label">
            <a:extLst xmlns:a="http://schemas.openxmlformats.org/drawingml/2006/main">
              <a:ext uri="{FF2B5EF4-FFF2-40B4-BE49-F238E27FC236}">
                <a16:creationId xmlns:a16="http://schemas.microsoft.com/office/drawing/2014/main" id="{952079F0-DA4D-47E4-BFD8-5B7F464DA7A2}"/>
              </a:ext>
            </a:extLst>
          </p:cNvPr>
          <p:cNvSpPr>
            <a:spLocks xmlns:a="http://schemas.openxmlformats.org/drawingml/2006/main" noGrp="1"/>
          </p:cNvSpPr>
          <p:nvPr/>
        </p:nvSpPr>
        <p:spPr>
          <a:xfrm xmlns:a="http://schemas.openxmlformats.org/drawingml/2006/main">
            <a:off x="5181600" y="27432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18794E"/>
                </a:solidFill>
                <a:latin typeface="Arial"/>
                <a:ea typeface="Arial"/>
                <a:cs typeface="Arial"/>
              </a:defRPr>
            </a:defPPr>
            <a:lvl1pPr algn="ctr">
              <a:buNone/>
              <a:defRPr sz="825" b="1">
                <a:solidFill>
                  <a:srgbClr val="18794E"/>
                </a:solidFill>
                <a:latin typeface="Arial"/>
                <a:ea typeface="Arial"/>
                <a:cs typeface="Arial"/>
              </a:defRPr>
            </a:lvl1pPr>
            <a:lvl2pPr algn="ctr">
              <a:buNone/>
              <a:defRPr sz="825" b="1">
                <a:solidFill>
                  <a:srgbClr val="18794E"/>
                </a:solidFill>
                <a:latin typeface="Arial"/>
                <a:ea typeface="Arial"/>
                <a:cs typeface="Arial"/>
              </a:defRPr>
            </a:lvl2pPr>
            <a:lvl3pPr algn="ctr">
              <a:buNone/>
              <a:defRPr sz="825" b="1">
                <a:solidFill>
                  <a:srgbClr val="18794E"/>
                </a:solidFill>
                <a:latin typeface="Arial"/>
                <a:ea typeface="Arial"/>
                <a:cs typeface="Arial"/>
              </a:defRPr>
            </a:lvl3pPr>
            <a:lvl4pPr algn="ctr">
              <a:buNone/>
              <a:defRPr sz="825" b="1">
                <a:solidFill>
                  <a:srgbClr val="18794E"/>
                </a:solidFill>
                <a:latin typeface="Arial"/>
                <a:ea typeface="Arial"/>
                <a:cs typeface="Arial"/>
              </a:defRPr>
            </a:lvl4pPr>
            <a:lvl5pPr algn="ctr">
              <a:buNone/>
              <a:defRPr sz="825" b="1">
                <a:solidFill>
                  <a:srgbClr val="18794E"/>
                </a:solidFill>
                <a:latin typeface="Arial"/>
                <a:ea typeface="Arial"/>
                <a:cs typeface="Arial"/>
              </a:defRPr>
            </a:lvl5pPr>
            <a:lvl6pPr algn="ctr">
              <a:buNone/>
              <a:defRPr sz="825" b="1">
                <a:solidFill>
                  <a:srgbClr val="18794E"/>
                </a:solidFill>
                <a:latin typeface="Arial"/>
                <a:ea typeface="Arial"/>
                <a:cs typeface="Arial"/>
              </a:defRPr>
            </a:lvl6pPr>
            <a:lvl7pPr algn="ctr">
              <a:buNone/>
              <a:defRPr sz="825" b="1">
                <a:solidFill>
                  <a:srgbClr val="18794E"/>
                </a:solidFill>
                <a:latin typeface="Arial"/>
                <a:ea typeface="Arial"/>
                <a:cs typeface="Arial"/>
              </a:defRPr>
            </a:lvl7pPr>
            <a:lvl8pPr algn="ctr">
              <a:buNone/>
              <a:defRPr sz="825" b="1">
                <a:solidFill>
                  <a:srgbClr val="18794E"/>
                </a:solidFill>
                <a:latin typeface="Arial"/>
                <a:ea typeface="Arial"/>
                <a:cs typeface="Arial"/>
              </a:defRPr>
            </a:lvl8pPr>
            <a:lvl9pPr algn="ctr">
              <a:buNone/>
              <a:defRPr sz="825" b="1">
                <a:solidFill>
                  <a:srgbClr val="18794E"/>
                </a:solidFill>
                <a:latin typeface="Arial"/>
                <a:ea typeface="Arial"/>
                <a:cs typeface="Arial"/>
              </a:defRPr>
            </a:lvl9pPr>
          </a:lstStyle>
          <a:p xmlns:a="http://schemas.openxmlformats.org/drawingml/2006/main">
            <a:pPr algn="ctr">
              <a:buNone/>
              <a:defRPr sz="825" b="1">
                <a:solidFill>
                  <a:srgbClr val="18794E"/>
                </a:solidFill>
                <a:latin typeface="Arial"/>
                <a:ea typeface="Arial"/>
                <a:cs typeface="Arial"/>
              </a:defRPr>
            </a:pPr>
            <a:r>
              <a:rPr sz="825" b="1">
                <a:solidFill>
                  <a:srgbClr val="18794E"/>
                </a:solidFill>
                <a:latin typeface="Arial"/>
                <a:ea typeface="Arial"/>
                <a:cs typeface="Arial"/>
              </a:rPr>
              <a:t>SIG  ·  dây xanh lá</a:t>
            </a:r>
          </a:p>
        </p:txBody>
      </p:sp>
      <p:sp>
        <p:nvSpPr>
          <p:cNvPr id="47" name="n1-down-r2">
            <a:extLst xmlns:a="http://schemas.openxmlformats.org/drawingml/2006/main">
              <a:ext uri="{FF2B5EF4-FFF2-40B4-BE49-F238E27FC236}">
                <a16:creationId xmlns:a16="http://schemas.microsoft.com/office/drawing/2014/main" id="{5EA58D59-EDF9-4A5F-962D-7B3B9AC002E1}"/>
              </a:ext>
            </a:extLst>
          </p:cNvPr>
          <p:cNvSpPr>
            <a:spLocks xmlns:a="http://schemas.openxmlformats.org/drawingml/2006/main" noGrp="1"/>
          </p:cNvSpPr>
          <p:nvPr/>
        </p:nvSpPr>
        <p:spPr>
          <a:xfrm xmlns:a="http://schemas.openxmlformats.org/drawingml/2006/main">
            <a:off x="4581525" y="2981325"/>
            <a:ext cx="0" cy="44767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48" name="r2-ref">
            <a:extLst xmlns:a="http://schemas.openxmlformats.org/drawingml/2006/main">
              <a:ext uri="{FF2B5EF4-FFF2-40B4-BE49-F238E27FC236}">
                <a16:creationId xmlns:a16="http://schemas.microsoft.com/office/drawing/2014/main" id="{2A040CD3-EB7C-4EB4-A35E-55EEFBD4FE20}"/>
              </a:ext>
            </a:extLst>
          </p:cNvPr>
          <p:cNvSpPr>
            <a:spLocks xmlns:a="http://schemas.openxmlformats.org/drawingml/2006/main" noGrp="1"/>
          </p:cNvSpPr>
          <p:nvPr/>
        </p:nvSpPr>
        <p:spPr>
          <a:xfrm xmlns:a="http://schemas.openxmlformats.org/drawingml/2006/main">
            <a:off x="3962400" y="3390900"/>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172A30"/>
                </a:solidFill>
                <a:latin typeface="Arial"/>
                <a:ea typeface="Arial"/>
                <a:cs typeface="Arial"/>
              </a:defRPr>
            </a:defPPr>
            <a:lvl1pPr algn="ctr">
              <a:buNone/>
              <a:defRPr sz="900" b="1">
                <a:solidFill>
                  <a:srgbClr val="172A30"/>
                </a:solidFill>
                <a:latin typeface="Arial"/>
                <a:ea typeface="Arial"/>
                <a:cs typeface="Arial"/>
              </a:defRPr>
            </a:lvl1pPr>
            <a:lvl2pPr algn="ctr">
              <a:buNone/>
              <a:defRPr sz="900" b="1">
                <a:solidFill>
                  <a:srgbClr val="172A30"/>
                </a:solidFill>
                <a:latin typeface="Arial"/>
                <a:ea typeface="Arial"/>
                <a:cs typeface="Arial"/>
              </a:defRPr>
            </a:lvl2pPr>
            <a:lvl3pPr algn="ctr">
              <a:buNone/>
              <a:defRPr sz="900" b="1">
                <a:solidFill>
                  <a:srgbClr val="172A30"/>
                </a:solidFill>
                <a:latin typeface="Arial"/>
                <a:ea typeface="Arial"/>
                <a:cs typeface="Arial"/>
              </a:defRPr>
            </a:lvl3pPr>
            <a:lvl4pPr algn="ctr">
              <a:buNone/>
              <a:defRPr sz="900" b="1">
                <a:solidFill>
                  <a:srgbClr val="172A30"/>
                </a:solidFill>
                <a:latin typeface="Arial"/>
                <a:ea typeface="Arial"/>
                <a:cs typeface="Arial"/>
              </a:defRPr>
            </a:lvl4pPr>
            <a:lvl5pPr algn="ctr">
              <a:buNone/>
              <a:defRPr sz="900" b="1">
                <a:solidFill>
                  <a:srgbClr val="172A30"/>
                </a:solidFill>
                <a:latin typeface="Arial"/>
                <a:ea typeface="Arial"/>
                <a:cs typeface="Arial"/>
              </a:defRPr>
            </a:lvl5pPr>
            <a:lvl6pPr algn="ctr">
              <a:buNone/>
              <a:defRPr sz="900" b="1">
                <a:solidFill>
                  <a:srgbClr val="172A30"/>
                </a:solidFill>
                <a:latin typeface="Arial"/>
                <a:ea typeface="Arial"/>
                <a:cs typeface="Arial"/>
              </a:defRPr>
            </a:lvl6pPr>
            <a:lvl7pPr algn="ctr">
              <a:buNone/>
              <a:defRPr sz="900" b="1">
                <a:solidFill>
                  <a:srgbClr val="172A30"/>
                </a:solidFill>
                <a:latin typeface="Arial"/>
                <a:ea typeface="Arial"/>
                <a:cs typeface="Arial"/>
              </a:defRPr>
            </a:lvl7pPr>
            <a:lvl8pPr algn="ctr">
              <a:buNone/>
              <a:defRPr sz="900" b="1">
                <a:solidFill>
                  <a:srgbClr val="172A30"/>
                </a:solidFill>
                <a:latin typeface="Arial"/>
                <a:ea typeface="Arial"/>
                <a:cs typeface="Arial"/>
              </a:defRPr>
            </a:lvl8pPr>
            <a:lvl9pPr algn="ctr">
              <a:buNone/>
              <a:defRPr sz="900" b="1">
                <a:solidFill>
                  <a:srgbClr val="172A30"/>
                </a:solidFill>
                <a:latin typeface="Arial"/>
                <a:ea typeface="Arial"/>
                <a:cs typeface="Arial"/>
              </a:defRPr>
            </a:lvl9pPr>
          </a:lstStyle>
          <a:p xmlns:a="http://schemas.openxmlformats.org/drawingml/2006/main">
            <a:pPr algn="ctr">
              <a:buNone/>
              <a:defRPr sz="900" b="1">
                <a:solidFill>
                  <a:srgbClr val="172A30"/>
                </a:solidFill>
                <a:latin typeface="Arial"/>
                <a:ea typeface="Arial"/>
                <a:cs typeface="Arial"/>
              </a:defRPr>
            </a:pPr>
            <a:r>
              <a:rPr sz="900" b="1">
                <a:solidFill>
                  <a:srgbClr val="172A30"/>
                </a:solidFill>
                <a:latin typeface="Arial"/>
                <a:ea typeface="Arial"/>
                <a:cs typeface="Arial"/>
              </a:rPr>
              <a:t>R2  ·  56 kΩ ±5%</a:t>
            </a:r>
          </a:p>
        </p:txBody>
      </p:sp>
      <p:sp>
        <p:nvSpPr>
          <p:cNvPr id="49" name="r2-iec">
            <a:extLst xmlns:a="http://schemas.openxmlformats.org/drawingml/2006/main">
              <a:ext uri="{FF2B5EF4-FFF2-40B4-BE49-F238E27FC236}">
                <a16:creationId xmlns:a16="http://schemas.microsoft.com/office/drawing/2014/main" id="{050E8B87-6CDA-4C45-981E-37BFF304B9D9}"/>
              </a:ext>
            </a:extLst>
          </p:cNvPr>
          <p:cNvSpPr>
            <a:spLocks xmlns:a="http://schemas.openxmlformats.org/drawingml/2006/main" noGrp="1"/>
          </p:cNvSpPr>
          <p:nvPr/>
        </p:nvSpPr>
        <p:spPr>
          <a:xfrm xmlns:a="http://schemas.openxmlformats.org/drawingml/2006/main">
            <a:off x="4371975" y="3667125"/>
            <a:ext cx="419100" cy="638175"/>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50" name="r2-to-gnd">
            <a:extLst xmlns:a="http://schemas.openxmlformats.org/drawingml/2006/main">
              <a:ext uri="{FF2B5EF4-FFF2-40B4-BE49-F238E27FC236}">
                <a16:creationId xmlns:a16="http://schemas.microsoft.com/office/drawing/2014/main" id="{F89F182B-350C-4F5C-878E-EF28B05398BF}"/>
              </a:ext>
            </a:extLst>
          </p:cNvPr>
          <p:cNvSpPr>
            <a:spLocks xmlns:a="http://schemas.openxmlformats.org/drawingml/2006/main" noGrp="1"/>
          </p:cNvSpPr>
          <p:nvPr/>
        </p:nvSpPr>
        <p:spPr>
          <a:xfrm xmlns:a="http://schemas.openxmlformats.org/drawingml/2006/main">
            <a:off x="4581525" y="4305300"/>
            <a:ext cx="0" cy="40005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1" name="n1-down-c1">
            <a:extLst xmlns:a="http://schemas.openxmlformats.org/drawingml/2006/main">
              <a:ext uri="{FF2B5EF4-FFF2-40B4-BE49-F238E27FC236}">
                <a16:creationId xmlns:a16="http://schemas.microsoft.com/office/drawing/2014/main" id="{182FB84B-17A0-41C0-812D-5EE261641F74}"/>
              </a:ext>
            </a:extLst>
          </p:cNvPr>
          <p:cNvSpPr>
            <a:spLocks xmlns:a="http://schemas.openxmlformats.org/drawingml/2006/main" noGrp="1"/>
          </p:cNvSpPr>
          <p:nvPr/>
        </p:nvSpPr>
        <p:spPr>
          <a:xfrm xmlns:a="http://schemas.openxmlformats.org/drawingml/2006/main">
            <a:off x="5762625" y="2981325"/>
            <a:ext cx="0" cy="39052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2" name="c1-top-lead">
            <a:extLst xmlns:a="http://schemas.openxmlformats.org/drawingml/2006/main">
              <a:ext uri="{FF2B5EF4-FFF2-40B4-BE49-F238E27FC236}">
                <a16:creationId xmlns:a16="http://schemas.microsoft.com/office/drawing/2014/main" id="{9AEA113C-DD26-409A-B409-14C3EEB45C28}"/>
              </a:ext>
            </a:extLst>
          </p:cNvPr>
          <p:cNvSpPr>
            <a:spLocks xmlns:a="http://schemas.openxmlformats.org/drawingml/2006/main" noGrp="1"/>
          </p:cNvSpPr>
          <p:nvPr/>
        </p:nvSpPr>
        <p:spPr>
          <a:xfrm xmlns:a="http://schemas.openxmlformats.org/drawingml/2006/main">
            <a:off x="5762625" y="3371850"/>
            <a:ext cx="0" cy="14287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3" name="c1-plate-1">
            <a:extLst xmlns:a="http://schemas.openxmlformats.org/drawingml/2006/main">
              <a:ext uri="{FF2B5EF4-FFF2-40B4-BE49-F238E27FC236}">
                <a16:creationId xmlns:a16="http://schemas.microsoft.com/office/drawing/2014/main" id="{81642C5E-EC51-4CD5-A7A4-A8A498B26659}"/>
              </a:ext>
            </a:extLst>
          </p:cNvPr>
          <p:cNvSpPr>
            <a:spLocks xmlns:a="http://schemas.openxmlformats.org/drawingml/2006/main" noGrp="1"/>
          </p:cNvSpPr>
          <p:nvPr/>
        </p:nvSpPr>
        <p:spPr>
          <a:xfrm xmlns:a="http://schemas.openxmlformats.org/drawingml/2006/main">
            <a:off x="5562600" y="3514725"/>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4" name="c1-plate-2">
            <a:extLst xmlns:a="http://schemas.openxmlformats.org/drawingml/2006/main">
              <a:ext uri="{FF2B5EF4-FFF2-40B4-BE49-F238E27FC236}">
                <a16:creationId xmlns:a16="http://schemas.microsoft.com/office/drawing/2014/main" id="{1F0CC48D-FB45-4733-98EC-8E6A7F9A8541}"/>
              </a:ext>
            </a:extLst>
          </p:cNvPr>
          <p:cNvSpPr>
            <a:spLocks xmlns:a="http://schemas.openxmlformats.org/drawingml/2006/main" noGrp="1"/>
          </p:cNvSpPr>
          <p:nvPr/>
        </p:nvSpPr>
        <p:spPr>
          <a:xfrm xmlns:a="http://schemas.openxmlformats.org/drawingml/2006/main">
            <a:off x="5562600" y="3609975"/>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5" name="c1-bottom-lead">
            <a:extLst xmlns:a="http://schemas.openxmlformats.org/drawingml/2006/main">
              <a:ext uri="{FF2B5EF4-FFF2-40B4-BE49-F238E27FC236}">
                <a16:creationId xmlns:a16="http://schemas.microsoft.com/office/drawing/2014/main" id="{E6798421-4407-4A8C-A32A-6C63AAAE294A}"/>
              </a:ext>
            </a:extLst>
          </p:cNvPr>
          <p:cNvSpPr>
            <a:spLocks xmlns:a="http://schemas.openxmlformats.org/drawingml/2006/main" noGrp="1"/>
          </p:cNvSpPr>
          <p:nvPr/>
        </p:nvSpPr>
        <p:spPr>
          <a:xfrm xmlns:a="http://schemas.openxmlformats.org/drawingml/2006/main">
            <a:off x="5762625" y="3609975"/>
            <a:ext cx="0" cy="1095375"/>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6" name="c1-ref">
            <a:extLst xmlns:a="http://schemas.openxmlformats.org/drawingml/2006/main">
              <a:ext uri="{FF2B5EF4-FFF2-40B4-BE49-F238E27FC236}">
                <a16:creationId xmlns:a16="http://schemas.microsoft.com/office/drawing/2014/main" id="{C416D1C1-6616-4534-96E1-4584F518C15D}"/>
              </a:ext>
            </a:extLst>
          </p:cNvPr>
          <p:cNvSpPr>
            <a:spLocks xmlns:a="http://schemas.openxmlformats.org/drawingml/2006/main" noGrp="1"/>
          </p:cNvSpPr>
          <p:nvPr/>
        </p:nvSpPr>
        <p:spPr>
          <a:xfrm xmlns:a="http://schemas.openxmlformats.org/drawingml/2006/main">
            <a:off x="6000750" y="342900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975" b="1">
                <a:solidFill>
                  <a:srgbClr val="172A30"/>
                </a:solidFill>
                <a:latin typeface="Arial"/>
                <a:ea typeface="Arial"/>
                <a:cs typeface="Arial"/>
              </a:rPr>
              <a:t>C1  ·  100 nF</a:t>
            </a:r>
          </a:p>
        </p:txBody>
      </p:sp>
      <p:sp>
        <p:nvSpPr>
          <p:cNvPr id="57" name="c1-parallel">
            <a:extLst xmlns:a="http://schemas.openxmlformats.org/drawingml/2006/main">
              <a:ext uri="{FF2B5EF4-FFF2-40B4-BE49-F238E27FC236}">
                <a16:creationId xmlns:a16="http://schemas.microsoft.com/office/drawing/2014/main" id="{140A05FD-D319-4C5D-877E-40D3A0A68054}"/>
              </a:ext>
            </a:extLst>
          </p:cNvPr>
          <p:cNvSpPr>
            <a:spLocks xmlns:a="http://schemas.openxmlformats.org/drawingml/2006/main" noGrp="1"/>
          </p:cNvSpPr>
          <p:nvPr/>
        </p:nvSpPr>
        <p:spPr>
          <a:xfrm xmlns:a="http://schemas.openxmlformats.org/drawingml/2006/main">
            <a:off x="6000750" y="3667125"/>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825" b="0">
                <a:solidFill>
                  <a:srgbClr val="50636A"/>
                </a:solidFill>
                <a:latin typeface="Arial"/>
                <a:ea typeface="Arial"/>
                <a:cs typeface="Arial"/>
              </a:rPr>
              <a:t>C1 mắc song song R2</a:t>
            </a:r>
          </a:p>
        </p:txBody>
      </p:sp>
      <p:sp>
        <p:nvSpPr>
          <p:cNvPr id="58" name="n1-r2-dot">
            <a:extLst xmlns:a="http://schemas.openxmlformats.org/drawingml/2006/main">
              <a:ext uri="{FF2B5EF4-FFF2-40B4-BE49-F238E27FC236}">
                <a16:creationId xmlns:a16="http://schemas.microsoft.com/office/drawing/2014/main" id="{1C49D04A-B3E2-4BC4-8D41-4181E0028D7B}"/>
              </a:ext>
            </a:extLst>
          </p:cNvPr>
          <p:cNvSpPr>
            <a:spLocks xmlns:a="http://schemas.openxmlformats.org/drawingml/2006/main" noGrp="1"/>
          </p:cNvSpPr>
          <p:nvPr/>
        </p:nvSpPr>
        <p:spPr>
          <a:xfrm xmlns:a="http://schemas.openxmlformats.org/drawingml/2006/main">
            <a:off x="45339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59" name="n1-c1-dot">
            <a:extLst xmlns:a="http://schemas.openxmlformats.org/drawingml/2006/main">
              <a:ext uri="{FF2B5EF4-FFF2-40B4-BE49-F238E27FC236}">
                <a16:creationId xmlns:a16="http://schemas.microsoft.com/office/drawing/2014/main" id="{F5614CA1-646A-4E0F-9F48-A7938D7CB29E}"/>
              </a:ext>
            </a:extLst>
          </p:cNvPr>
          <p:cNvSpPr>
            <a:spLocks xmlns:a="http://schemas.openxmlformats.org/drawingml/2006/main" noGrp="1"/>
          </p:cNvSpPr>
          <p:nvPr/>
        </p:nvSpPr>
        <p:spPr>
          <a:xfrm xmlns:a="http://schemas.openxmlformats.org/drawingml/2006/main">
            <a:off x="57150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60" name="j2-box">
            <a:extLst xmlns:a="http://schemas.openxmlformats.org/drawingml/2006/main">
              <a:ext uri="{FF2B5EF4-FFF2-40B4-BE49-F238E27FC236}">
                <a16:creationId xmlns:a16="http://schemas.microsoft.com/office/drawing/2014/main" id="{89FB380F-0AA4-4A83-BA96-3EC011D1F091}"/>
              </a:ext>
            </a:extLst>
          </p:cNvPr>
          <p:cNvSpPr>
            <a:spLocks xmlns:a="http://schemas.openxmlformats.org/drawingml/2006/main" noGrp="1"/>
          </p:cNvSpPr>
          <p:nvPr/>
        </p:nvSpPr>
        <p:spPr>
          <a:xfrm xmlns:a="http://schemas.openxmlformats.org/drawingml/2006/main">
            <a:off x="7124700" y="2228850"/>
            <a:ext cx="1952625" cy="2438400"/>
          </a:xfrm>
          <a:prstGeom xmlns:a="http://schemas.openxmlformats.org/drawingml/2006/main" prst="rect">
            <a:avLst/>
          </a:prstGeom>
          <a:solidFill xmlns:a="http://schemas.openxmlformats.org/drawingml/2006/main">
            <a:srgbClr val="FFFFFF"/>
          </a:solidFill>
          <a:ln xmlns:a="http://schemas.openxmlformats.org/drawingml/2006/main" w="19050">
            <a:solidFill>
              <a:srgbClr val="102A33"/>
            </a:solidFill>
            <a:prstDash val="solid"/>
          </a:ln>
        </p:spPr>
      </p:sp>
      <p:sp>
        <p:nvSpPr>
          <p:cNvPr id="61" name="j2-title">
            <a:extLst xmlns:a="http://schemas.openxmlformats.org/drawingml/2006/main">
              <a:ext uri="{FF2B5EF4-FFF2-40B4-BE49-F238E27FC236}">
                <a16:creationId xmlns:a16="http://schemas.microsoft.com/office/drawing/2014/main" id="{E18B985F-9B24-4E52-8070-30259DE6CDD7}"/>
              </a:ext>
            </a:extLst>
          </p:cNvPr>
          <p:cNvSpPr>
            <a:spLocks xmlns:a="http://schemas.openxmlformats.org/drawingml/2006/main" noGrp="1"/>
          </p:cNvSpPr>
          <p:nvPr/>
        </p:nvSpPr>
        <p:spPr>
          <a:xfrm xmlns:a="http://schemas.openxmlformats.org/drawingml/2006/main">
            <a:off x="7239000" y="2314575"/>
            <a:ext cx="1724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A33"/>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A33"/>
                </a:solidFill>
                <a:latin typeface="Arial"/>
                <a:ea typeface="Arial"/>
                <a:cs typeface="Arial"/>
              </a:defRPr>
            </a:pPr>
            <a:r>
              <a:rPr sz="1200" b="1">
                <a:solidFill>
                  <a:srgbClr val="102A33"/>
                </a:solidFill>
                <a:latin typeface="Arial"/>
                <a:ea typeface="Arial"/>
                <a:cs typeface="Arial"/>
              </a:rPr>
              <a:t>J2  ·  BỘ THU</a:t>
            </a:r>
          </a:p>
        </p:txBody>
      </p:sp>
      <p:sp>
        <p:nvSpPr>
          <p:cNvPr id="62" name="j2-sub">
            <a:extLst xmlns:a="http://schemas.openxmlformats.org/drawingml/2006/main">
              <a:ext uri="{FF2B5EF4-FFF2-40B4-BE49-F238E27FC236}">
                <a16:creationId xmlns:a16="http://schemas.microsoft.com/office/drawing/2014/main" id="{52528847-AE61-46B0-9352-771EFB62F92D}"/>
              </a:ext>
            </a:extLst>
          </p:cNvPr>
          <p:cNvSpPr>
            <a:spLocks xmlns:a="http://schemas.openxmlformats.org/drawingml/2006/main" noGrp="1"/>
          </p:cNvSpPr>
          <p:nvPr/>
        </p:nvSpPr>
        <p:spPr>
          <a:xfrm xmlns:a="http://schemas.openxmlformats.org/drawingml/2006/main">
            <a:off x="7239000" y="2571750"/>
            <a:ext cx="17240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0636A"/>
                </a:solidFill>
                <a:latin typeface="Arial"/>
                <a:ea typeface="Arial"/>
                <a:cs typeface="Arial"/>
              </a:rPr>
              <a:t>ESP32-S3 DevKitC-1 N8R8</a:t>
            </a:r>
          </a:p>
        </p:txBody>
      </p:sp>
      <p:sp>
        <p:nvSpPr>
          <p:cNvPr id="63" name="j2-adc">
            <a:extLst xmlns:a="http://schemas.openxmlformats.org/drawingml/2006/main">
              <a:ext uri="{FF2B5EF4-FFF2-40B4-BE49-F238E27FC236}">
                <a16:creationId xmlns:a16="http://schemas.microsoft.com/office/drawing/2014/main" id="{537CE67A-D643-45E5-BDDA-2F59B9F77BD5}"/>
              </a:ext>
            </a:extLst>
          </p:cNvPr>
          <p:cNvSpPr>
            <a:spLocks xmlns:a="http://schemas.openxmlformats.org/drawingml/2006/main" noGrp="1"/>
          </p:cNvSpPr>
          <p:nvPr/>
        </p:nvSpPr>
        <p:spPr>
          <a:xfrm xmlns:a="http://schemas.openxmlformats.org/drawingml/2006/main">
            <a:off x="7077075" y="293370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64" name="j2-adc-label">
            <a:extLst xmlns:a="http://schemas.openxmlformats.org/drawingml/2006/main">
              <a:ext uri="{FF2B5EF4-FFF2-40B4-BE49-F238E27FC236}">
                <a16:creationId xmlns:a16="http://schemas.microsoft.com/office/drawing/2014/main" id="{95196A8F-E08D-49AD-8A80-B6D8AE60B1A8}"/>
              </a:ext>
            </a:extLst>
          </p:cNvPr>
          <p:cNvSpPr>
            <a:spLocks xmlns:a="http://schemas.openxmlformats.org/drawingml/2006/main" noGrp="1"/>
          </p:cNvSpPr>
          <p:nvPr/>
        </p:nvSpPr>
        <p:spPr>
          <a:xfrm xmlns:a="http://schemas.openxmlformats.org/drawingml/2006/main">
            <a:off x="7286625" y="286702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975" b="1">
                <a:solidFill>
                  <a:srgbClr val="172A30"/>
                </a:solidFill>
                <a:latin typeface="Arial"/>
                <a:ea typeface="Arial"/>
                <a:cs typeface="Arial"/>
              </a:rPr>
              <a:t>1  GPIO1 / ADC1_CH0</a:t>
            </a:r>
          </a:p>
        </p:txBody>
      </p:sp>
      <p:sp>
        <p:nvSpPr>
          <p:cNvPr id="65" name="j2-gnd">
            <a:extLst xmlns:a="http://schemas.openxmlformats.org/drawingml/2006/main">
              <a:ext uri="{FF2B5EF4-FFF2-40B4-BE49-F238E27FC236}">
                <a16:creationId xmlns:a16="http://schemas.microsoft.com/office/drawing/2014/main" id="{175ECFB4-D2B0-4992-9C2F-795CC0C21E28}"/>
              </a:ext>
            </a:extLst>
          </p:cNvPr>
          <p:cNvSpPr>
            <a:spLocks xmlns:a="http://schemas.openxmlformats.org/drawingml/2006/main" noGrp="1"/>
          </p:cNvSpPr>
          <p:nvPr/>
        </p:nvSpPr>
        <p:spPr>
          <a:xfrm xmlns:a="http://schemas.openxmlformats.org/drawingml/2006/main">
            <a:off x="7077075" y="4238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66" name="j2-gnd-label">
            <a:extLst xmlns:a="http://schemas.openxmlformats.org/drawingml/2006/main">
              <a:ext uri="{FF2B5EF4-FFF2-40B4-BE49-F238E27FC236}">
                <a16:creationId xmlns:a16="http://schemas.microsoft.com/office/drawing/2014/main" id="{68C41262-C12A-4C8E-9D7B-1505A40FB825}"/>
              </a:ext>
            </a:extLst>
          </p:cNvPr>
          <p:cNvSpPr>
            <a:spLocks xmlns:a="http://schemas.openxmlformats.org/drawingml/2006/main" noGrp="1"/>
          </p:cNvSpPr>
          <p:nvPr/>
        </p:nvSpPr>
        <p:spPr>
          <a:xfrm xmlns:a="http://schemas.openxmlformats.org/drawingml/2006/main">
            <a:off x="7286625" y="41719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975" b="1">
                <a:solidFill>
                  <a:srgbClr val="172A30"/>
                </a:solidFill>
                <a:latin typeface="Arial"/>
                <a:ea typeface="Arial"/>
                <a:cs typeface="Arial"/>
              </a:rPr>
              <a:t>2  GND</a:t>
            </a:r>
          </a:p>
        </p:txBody>
      </p:sp>
      <p:sp>
        <p:nvSpPr>
          <p:cNvPr id="67" name="j2-usb">
            <a:extLst xmlns:a="http://schemas.openxmlformats.org/drawingml/2006/main">
              <a:ext uri="{FF2B5EF4-FFF2-40B4-BE49-F238E27FC236}">
                <a16:creationId xmlns:a16="http://schemas.microsoft.com/office/drawing/2014/main" id="{0A723CD9-9EC8-452C-B786-0A57222C5439}"/>
              </a:ext>
            </a:extLst>
          </p:cNvPr>
          <p:cNvSpPr>
            <a:spLocks xmlns:a="http://schemas.openxmlformats.org/drawingml/2006/main" noGrp="1"/>
          </p:cNvSpPr>
          <p:nvPr/>
        </p:nvSpPr>
        <p:spPr>
          <a:xfrm xmlns:a="http://schemas.openxmlformats.org/drawingml/2006/main">
            <a:off x="7286625" y="4429125"/>
            <a:ext cx="114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825" b="0">
                <a:solidFill>
                  <a:srgbClr val="50636A"/>
                </a:solidFill>
                <a:latin typeface="Arial"/>
                <a:ea typeface="Arial"/>
                <a:cs typeface="Arial"/>
              </a:rPr>
              <a:t>USB-C 5 V</a:t>
            </a:r>
          </a:p>
        </p:txBody>
      </p:sp>
      <p:sp>
        <p:nvSpPr>
          <p:cNvPr id="68" name="j2-vcc-label">
            <a:extLst xmlns:a="http://schemas.openxmlformats.org/drawingml/2006/main">
              <a:ext uri="{FF2B5EF4-FFF2-40B4-BE49-F238E27FC236}">
                <a16:creationId xmlns:a16="http://schemas.microsoft.com/office/drawing/2014/main" id="{516B1621-31DC-4F1B-8B94-EF443B2CF9B7}"/>
              </a:ext>
            </a:extLst>
          </p:cNvPr>
          <p:cNvSpPr>
            <a:spLocks xmlns:a="http://schemas.openxmlformats.org/drawingml/2006/main" noGrp="1"/>
          </p:cNvSpPr>
          <p:nvPr/>
        </p:nvSpPr>
        <p:spPr>
          <a:xfrm xmlns:a="http://schemas.openxmlformats.org/drawingml/2006/main">
            <a:off x="8267700" y="3028950"/>
            <a:ext cx="6953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1">
                <a:solidFill>
                  <a:srgbClr val="172A30"/>
                </a:solidFill>
                <a:latin typeface="Arial"/>
                <a:ea typeface="Arial"/>
                <a:cs typeface="Arial"/>
              </a:defRPr>
            </a:defPPr>
            <a:lvl1pPr algn="r">
              <a:buNone/>
              <a:defRPr sz="900" b="1">
                <a:solidFill>
                  <a:srgbClr val="172A30"/>
                </a:solidFill>
                <a:latin typeface="Arial"/>
                <a:ea typeface="Arial"/>
                <a:cs typeface="Arial"/>
              </a:defRPr>
            </a:lvl1pPr>
            <a:lvl2pPr algn="r">
              <a:buNone/>
              <a:defRPr sz="900" b="1">
                <a:solidFill>
                  <a:srgbClr val="172A30"/>
                </a:solidFill>
                <a:latin typeface="Arial"/>
                <a:ea typeface="Arial"/>
                <a:cs typeface="Arial"/>
              </a:defRPr>
            </a:lvl2pPr>
            <a:lvl3pPr algn="r">
              <a:buNone/>
              <a:defRPr sz="900" b="1">
                <a:solidFill>
                  <a:srgbClr val="172A30"/>
                </a:solidFill>
                <a:latin typeface="Arial"/>
                <a:ea typeface="Arial"/>
                <a:cs typeface="Arial"/>
              </a:defRPr>
            </a:lvl3pPr>
            <a:lvl4pPr algn="r">
              <a:buNone/>
              <a:defRPr sz="900" b="1">
                <a:solidFill>
                  <a:srgbClr val="172A30"/>
                </a:solidFill>
                <a:latin typeface="Arial"/>
                <a:ea typeface="Arial"/>
                <a:cs typeface="Arial"/>
              </a:defRPr>
            </a:lvl4pPr>
            <a:lvl5pPr algn="r">
              <a:buNone/>
              <a:defRPr sz="900" b="1">
                <a:solidFill>
                  <a:srgbClr val="172A30"/>
                </a:solidFill>
                <a:latin typeface="Arial"/>
                <a:ea typeface="Arial"/>
                <a:cs typeface="Arial"/>
              </a:defRPr>
            </a:lvl5pPr>
            <a:lvl6pPr algn="r">
              <a:buNone/>
              <a:defRPr sz="900" b="1">
                <a:solidFill>
                  <a:srgbClr val="172A30"/>
                </a:solidFill>
                <a:latin typeface="Arial"/>
                <a:ea typeface="Arial"/>
                <a:cs typeface="Arial"/>
              </a:defRPr>
            </a:lvl6pPr>
            <a:lvl7pPr algn="r">
              <a:buNone/>
              <a:defRPr sz="900" b="1">
                <a:solidFill>
                  <a:srgbClr val="172A30"/>
                </a:solidFill>
                <a:latin typeface="Arial"/>
                <a:ea typeface="Arial"/>
                <a:cs typeface="Arial"/>
              </a:defRPr>
            </a:lvl7pPr>
            <a:lvl8pPr algn="r">
              <a:buNone/>
              <a:defRPr sz="900" b="1">
                <a:solidFill>
                  <a:srgbClr val="172A30"/>
                </a:solidFill>
                <a:latin typeface="Arial"/>
                <a:ea typeface="Arial"/>
                <a:cs typeface="Arial"/>
              </a:defRPr>
            </a:lvl8pPr>
            <a:lvl9pPr algn="r">
              <a:buNone/>
              <a:defRPr sz="900" b="1">
                <a:solidFill>
                  <a:srgbClr val="172A30"/>
                </a:solidFill>
                <a:latin typeface="Arial"/>
                <a:ea typeface="Arial"/>
                <a:cs typeface="Arial"/>
              </a:defRPr>
            </a:lvl9pPr>
          </a:lstStyle>
          <a:p xmlns:a="http://schemas.openxmlformats.org/drawingml/2006/main">
            <a:pPr algn="r">
              <a:buNone/>
              <a:defRPr sz="900" b="1">
                <a:solidFill>
                  <a:srgbClr val="172A30"/>
                </a:solidFill>
                <a:latin typeface="Arial"/>
                <a:ea typeface="Arial"/>
                <a:cs typeface="Arial"/>
              </a:defRPr>
            </a:pPr>
            <a:r>
              <a:rPr sz="900" b="1">
                <a:solidFill>
                  <a:srgbClr val="172A30"/>
                </a:solidFill>
                <a:latin typeface="Arial"/>
                <a:ea typeface="Arial"/>
                <a:cs typeface="Arial"/>
              </a:rPr>
              <a:t>3V3</a:t>
            </a:r>
          </a:p>
        </p:txBody>
      </p:sp>
      <p:sp>
        <p:nvSpPr>
          <p:cNvPr id="69" name="j2-sda-label">
            <a:extLst xmlns:a="http://schemas.openxmlformats.org/drawingml/2006/main">
              <a:ext uri="{FF2B5EF4-FFF2-40B4-BE49-F238E27FC236}">
                <a16:creationId xmlns:a16="http://schemas.microsoft.com/office/drawing/2014/main" id="{1FDFE485-D417-44E8-8951-9306184788E2}"/>
              </a:ext>
            </a:extLst>
          </p:cNvPr>
          <p:cNvSpPr>
            <a:spLocks xmlns:a="http://schemas.openxmlformats.org/drawingml/2006/main" noGrp="1"/>
          </p:cNvSpPr>
          <p:nvPr/>
        </p:nvSpPr>
        <p:spPr>
          <a:xfrm xmlns:a="http://schemas.openxmlformats.org/drawingml/2006/main">
            <a:off x="8105775" y="3714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825" b="1">
                <a:solidFill>
                  <a:srgbClr val="172A30"/>
                </a:solidFill>
                <a:latin typeface="Arial"/>
                <a:ea typeface="Arial"/>
                <a:cs typeface="Arial"/>
              </a:rPr>
              <a:t>GPIO8 / SDA</a:t>
            </a:r>
          </a:p>
        </p:txBody>
      </p:sp>
      <p:sp>
        <p:nvSpPr>
          <p:cNvPr id="70" name="j2-scl-label">
            <a:extLst xmlns:a="http://schemas.openxmlformats.org/drawingml/2006/main">
              <a:ext uri="{FF2B5EF4-FFF2-40B4-BE49-F238E27FC236}">
                <a16:creationId xmlns:a16="http://schemas.microsoft.com/office/drawing/2014/main" id="{4D552B80-3213-4949-B05B-2CC79C1390D3}"/>
              </a:ext>
            </a:extLst>
          </p:cNvPr>
          <p:cNvSpPr>
            <a:spLocks xmlns:a="http://schemas.openxmlformats.org/drawingml/2006/main" noGrp="1"/>
          </p:cNvSpPr>
          <p:nvPr/>
        </p:nvSpPr>
        <p:spPr>
          <a:xfrm xmlns:a="http://schemas.openxmlformats.org/drawingml/2006/main">
            <a:off x="8105775" y="40576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825" b="1">
                <a:solidFill>
                  <a:srgbClr val="172A30"/>
                </a:solidFill>
                <a:latin typeface="Arial"/>
                <a:ea typeface="Arial"/>
                <a:cs typeface="Arial"/>
              </a:rPr>
              <a:t>GPIO9 / SCL</a:t>
            </a:r>
          </a:p>
        </p:txBody>
      </p:sp>
      <p:sp>
        <p:nvSpPr>
          <p:cNvPr id="71" name="j3-box">
            <a:extLst xmlns:a="http://schemas.openxmlformats.org/drawingml/2006/main">
              <a:ext uri="{FF2B5EF4-FFF2-40B4-BE49-F238E27FC236}">
                <a16:creationId xmlns:a16="http://schemas.microsoft.com/office/drawing/2014/main" id="{51DBF5A9-5EEC-41BF-AB70-B7A75B909417}"/>
              </a:ext>
            </a:extLst>
          </p:cNvPr>
          <p:cNvSpPr>
            <a:spLocks xmlns:a="http://schemas.openxmlformats.org/drawingml/2006/main" noGrp="1"/>
          </p:cNvSpPr>
          <p:nvPr/>
        </p:nvSpPr>
        <p:spPr>
          <a:xfrm xmlns:a="http://schemas.openxmlformats.org/drawingml/2006/main">
            <a:off x="9886950" y="2514600"/>
            <a:ext cx="1695450" cy="1857375"/>
          </a:xfrm>
          <a:prstGeom xmlns:a="http://schemas.openxmlformats.org/drawingml/2006/main" prst="rect">
            <a:avLst/>
          </a:prstGeom>
          <a:solidFill xmlns:a="http://schemas.openxmlformats.org/drawingml/2006/main">
            <a:srgbClr val="FFFFFF"/>
          </a:solidFill>
          <a:ln xmlns:a="http://schemas.openxmlformats.org/drawingml/2006/main" w="19050">
            <a:solidFill>
              <a:srgbClr val="102A33"/>
            </a:solidFill>
            <a:prstDash val="solid"/>
          </a:ln>
        </p:spPr>
      </p:sp>
      <p:sp>
        <p:nvSpPr>
          <p:cNvPr id="72" name="j3-title">
            <a:extLst xmlns:a="http://schemas.openxmlformats.org/drawingml/2006/main">
              <a:ext uri="{FF2B5EF4-FFF2-40B4-BE49-F238E27FC236}">
                <a16:creationId xmlns:a16="http://schemas.microsoft.com/office/drawing/2014/main" id="{0C93418E-A268-4127-B1E7-88BD8BC0A30E}"/>
              </a:ext>
            </a:extLst>
          </p:cNvPr>
          <p:cNvSpPr>
            <a:spLocks xmlns:a="http://schemas.openxmlformats.org/drawingml/2006/main" noGrp="1"/>
          </p:cNvSpPr>
          <p:nvPr/>
        </p:nvSpPr>
        <p:spPr>
          <a:xfrm xmlns:a="http://schemas.openxmlformats.org/drawingml/2006/main">
            <a:off x="10001250" y="2600325"/>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A33"/>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A33"/>
                </a:solidFill>
                <a:latin typeface="Arial"/>
                <a:ea typeface="Arial"/>
                <a:cs typeface="Arial"/>
              </a:defRPr>
            </a:pPr>
            <a:r>
              <a:rPr sz="1200" b="1">
                <a:solidFill>
                  <a:srgbClr val="102A33"/>
                </a:solidFill>
                <a:latin typeface="Arial"/>
                <a:ea typeface="Arial"/>
                <a:cs typeface="Arial"/>
              </a:rPr>
              <a:t>J3  ·  OLED</a:t>
            </a:r>
          </a:p>
        </p:txBody>
      </p:sp>
      <p:sp>
        <p:nvSpPr>
          <p:cNvPr id="73" name="j3-sub">
            <a:extLst xmlns:a="http://schemas.openxmlformats.org/drawingml/2006/main">
              <a:ext uri="{FF2B5EF4-FFF2-40B4-BE49-F238E27FC236}">
                <a16:creationId xmlns:a16="http://schemas.microsoft.com/office/drawing/2014/main" id="{0A7BF940-9BB3-4C5B-980B-914F36FE4795}"/>
              </a:ext>
            </a:extLst>
          </p:cNvPr>
          <p:cNvSpPr>
            <a:spLocks xmlns:a="http://schemas.openxmlformats.org/drawingml/2006/main" noGrp="1"/>
          </p:cNvSpPr>
          <p:nvPr/>
        </p:nvSpPr>
        <p:spPr>
          <a:xfrm xmlns:a="http://schemas.openxmlformats.org/drawingml/2006/main">
            <a:off x="10001250" y="2857500"/>
            <a:ext cx="1466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0636A"/>
                </a:solidFill>
                <a:latin typeface="Arial"/>
                <a:ea typeface="Arial"/>
                <a:cs typeface="Arial"/>
              </a:rPr>
              <a:t>SSD1306 · I²C · 0x3C</a:t>
            </a:r>
          </a:p>
        </p:txBody>
      </p:sp>
      <p:sp>
        <p:nvSpPr>
          <p:cNvPr id="74" name="j3-vcc-terminal">
            <a:extLst xmlns:a="http://schemas.openxmlformats.org/drawingml/2006/main">
              <a:ext uri="{FF2B5EF4-FFF2-40B4-BE49-F238E27FC236}">
                <a16:creationId xmlns:a16="http://schemas.microsoft.com/office/drawing/2014/main" id="{CC0D6D56-D083-49E9-8C71-A4190289185E}"/>
              </a:ext>
            </a:extLst>
          </p:cNvPr>
          <p:cNvSpPr>
            <a:spLocks xmlns:a="http://schemas.openxmlformats.org/drawingml/2006/main" noGrp="1"/>
          </p:cNvSpPr>
          <p:nvPr/>
        </p:nvSpPr>
        <p:spPr>
          <a:xfrm xmlns:a="http://schemas.openxmlformats.org/drawingml/2006/main">
            <a:off x="98393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75" name="j3-vcc-label">
            <a:extLst xmlns:a="http://schemas.openxmlformats.org/drawingml/2006/main">
              <a:ext uri="{FF2B5EF4-FFF2-40B4-BE49-F238E27FC236}">
                <a16:creationId xmlns:a16="http://schemas.microsoft.com/office/drawing/2014/main" id="{BA4E93AF-4043-41C6-975C-102ADEBE3757}"/>
              </a:ext>
            </a:extLst>
          </p:cNvPr>
          <p:cNvSpPr>
            <a:spLocks xmlns:a="http://schemas.openxmlformats.org/drawingml/2006/main" noGrp="1"/>
          </p:cNvSpPr>
          <p:nvPr/>
        </p:nvSpPr>
        <p:spPr>
          <a:xfrm xmlns:a="http://schemas.openxmlformats.org/drawingml/2006/main">
            <a:off x="10020300" y="30289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1  VCC  ·  3V3</a:t>
            </a:r>
          </a:p>
        </p:txBody>
      </p:sp>
      <p:sp>
        <p:nvSpPr>
          <p:cNvPr id="76" name="j3-gnd-terminal">
            <a:extLst xmlns:a="http://schemas.openxmlformats.org/drawingml/2006/main">
              <a:ext uri="{FF2B5EF4-FFF2-40B4-BE49-F238E27FC236}">
                <a16:creationId xmlns:a16="http://schemas.microsoft.com/office/drawing/2014/main" id="{CD234B5A-A875-4D58-BEE3-6C2BF59316AB}"/>
              </a:ext>
            </a:extLst>
          </p:cNvPr>
          <p:cNvSpPr>
            <a:spLocks xmlns:a="http://schemas.openxmlformats.org/drawingml/2006/main" noGrp="1"/>
          </p:cNvSpPr>
          <p:nvPr/>
        </p:nvSpPr>
        <p:spPr>
          <a:xfrm xmlns:a="http://schemas.openxmlformats.org/drawingml/2006/main">
            <a:off x="9839325" y="34385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77" name="j3-gnd-label">
            <a:extLst xmlns:a="http://schemas.openxmlformats.org/drawingml/2006/main">
              <a:ext uri="{FF2B5EF4-FFF2-40B4-BE49-F238E27FC236}">
                <a16:creationId xmlns:a16="http://schemas.microsoft.com/office/drawing/2014/main" id="{E3D007A5-5FF0-4FBD-A104-DBC9CD9BD218}"/>
              </a:ext>
            </a:extLst>
          </p:cNvPr>
          <p:cNvSpPr>
            <a:spLocks xmlns:a="http://schemas.openxmlformats.org/drawingml/2006/main" noGrp="1"/>
          </p:cNvSpPr>
          <p:nvPr/>
        </p:nvSpPr>
        <p:spPr>
          <a:xfrm xmlns:a="http://schemas.openxmlformats.org/drawingml/2006/main">
            <a:off x="10020300" y="33718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2  GND  ·  GND</a:t>
            </a:r>
          </a:p>
        </p:txBody>
      </p:sp>
      <p:sp>
        <p:nvSpPr>
          <p:cNvPr id="78" name="j3-sda-terminal">
            <a:extLst xmlns:a="http://schemas.openxmlformats.org/drawingml/2006/main">
              <a:ext uri="{FF2B5EF4-FFF2-40B4-BE49-F238E27FC236}">
                <a16:creationId xmlns:a16="http://schemas.microsoft.com/office/drawing/2014/main" id="{5AA9E9C7-C2A6-49E1-B6EE-94C5465E9313}"/>
              </a:ext>
            </a:extLst>
          </p:cNvPr>
          <p:cNvSpPr>
            <a:spLocks xmlns:a="http://schemas.openxmlformats.org/drawingml/2006/main" noGrp="1"/>
          </p:cNvSpPr>
          <p:nvPr/>
        </p:nvSpPr>
        <p:spPr>
          <a:xfrm xmlns:a="http://schemas.openxmlformats.org/drawingml/2006/main">
            <a:off x="9839325" y="37814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79" name="j3-sda-label">
            <a:extLst xmlns:a="http://schemas.openxmlformats.org/drawingml/2006/main">
              <a:ext uri="{FF2B5EF4-FFF2-40B4-BE49-F238E27FC236}">
                <a16:creationId xmlns:a16="http://schemas.microsoft.com/office/drawing/2014/main" id="{3E0012A8-534B-436E-9088-F50923A8A8B0}"/>
              </a:ext>
            </a:extLst>
          </p:cNvPr>
          <p:cNvSpPr>
            <a:spLocks xmlns:a="http://schemas.openxmlformats.org/drawingml/2006/main" noGrp="1"/>
          </p:cNvSpPr>
          <p:nvPr/>
        </p:nvSpPr>
        <p:spPr>
          <a:xfrm xmlns:a="http://schemas.openxmlformats.org/drawingml/2006/main">
            <a:off x="10020300" y="37147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3  SDA  ·  GPIO8</a:t>
            </a:r>
          </a:p>
        </p:txBody>
      </p:sp>
      <p:sp>
        <p:nvSpPr>
          <p:cNvPr id="80" name="j3-scl-terminal">
            <a:extLst xmlns:a="http://schemas.openxmlformats.org/drawingml/2006/main">
              <a:ext uri="{FF2B5EF4-FFF2-40B4-BE49-F238E27FC236}">
                <a16:creationId xmlns:a16="http://schemas.microsoft.com/office/drawing/2014/main" id="{36A30A32-69AE-434E-80E1-62C14DBB075A}"/>
              </a:ext>
            </a:extLst>
          </p:cNvPr>
          <p:cNvSpPr>
            <a:spLocks xmlns:a="http://schemas.openxmlformats.org/drawingml/2006/main" noGrp="1"/>
          </p:cNvSpPr>
          <p:nvPr/>
        </p:nvSpPr>
        <p:spPr>
          <a:xfrm xmlns:a="http://schemas.openxmlformats.org/drawingml/2006/main">
            <a:off x="9839325" y="41243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81" name="j3-scl-label">
            <a:extLst xmlns:a="http://schemas.openxmlformats.org/drawingml/2006/main">
              <a:ext uri="{FF2B5EF4-FFF2-40B4-BE49-F238E27FC236}">
                <a16:creationId xmlns:a16="http://schemas.microsoft.com/office/drawing/2014/main" id="{31CC9472-1C01-47F8-B495-73D7386B9E14}"/>
              </a:ext>
            </a:extLst>
          </p:cNvPr>
          <p:cNvSpPr>
            <a:spLocks xmlns:a="http://schemas.openxmlformats.org/drawingml/2006/main" noGrp="1"/>
          </p:cNvSpPr>
          <p:nvPr/>
        </p:nvSpPr>
        <p:spPr>
          <a:xfrm xmlns:a="http://schemas.openxmlformats.org/drawingml/2006/main">
            <a:off x="10020300" y="40576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00" b="1">
                <a:solidFill>
                  <a:srgbClr val="172A30"/>
                </a:solidFill>
                <a:latin typeface="Arial"/>
                <a:ea typeface="Arial"/>
                <a:cs typeface="Arial"/>
              </a:rPr>
              <a:t>4  SCL  ·  GPIO9</a:t>
            </a:r>
          </a:p>
        </p:txBody>
      </p:sp>
      <p:sp>
        <p:nvSpPr>
          <p:cNvPr id="82" name="j2-vcc-to-j3">
            <a:extLst xmlns:a="http://schemas.openxmlformats.org/drawingml/2006/main">
              <a:ext uri="{FF2B5EF4-FFF2-40B4-BE49-F238E27FC236}">
                <a16:creationId xmlns:a16="http://schemas.microsoft.com/office/drawing/2014/main" id="{EA31657D-6960-47EC-82FB-3930E9FBA42B}"/>
              </a:ext>
            </a:extLst>
          </p:cNvPr>
          <p:cNvSpPr>
            <a:spLocks xmlns:a="http://schemas.openxmlformats.org/drawingml/2006/main" noGrp="1"/>
          </p:cNvSpPr>
          <p:nvPr/>
        </p:nvSpPr>
        <p:spPr>
          <a:xfrm xmlns:a="http://schemas.openxmlformats.org/drawingml/2006/main">
            <a:off x="9077325" y="3143250"/>
            <a:ext cx="762000" cy="0"/>
          </a:xfrm>
          <a:prstGeom xmlns:a="http://schemas.openxmlformats.org/drawingml/2006/main" prst="line">
            <a:avLst/>
          </a:prstGeom>
          <a:noFill xmlns:a="http://schemas.openxmlformats.org/drawingml/2006/main"/>
          <a:ln xmlns:a="http://schemas.openxmlformats.org/drawingml/2006/main" w="23813">
            <a:solidFill>
              <a:srgbClr val="B42318"/>
            </a:solidFill>
            <a:prstDash val="solid"/>
          </a:ln>
        </p:spPr>
      </p:sp>
      <p:sp>
        <p:nvSpPr>
          <p:cNvPr id="83" name="j2-vcc-terminal">
            <a:extLst xmlns:a="http://schemas.openxmlformats.org/drawingml/2006/main">
              <a:ext uri="{FF2B5EF4-FFF2-40B4-BE49-F238E27FC236}">
                <a16:creationId xmlns:a16="http://schemas.microsoft.com/office/drawing/2014/main" id="{43B1B208-2665-4F6E-A885-10B8839D3212}"/>
              </a:ext>
            </a:extLst>
          </p:cNvPr>
          <p:cNvSpPr>
            <a:spLocks xmlns:a="http://schemas.openxmlformats.org/drawingml/2006/main" noGrp="1"/>
          </p:cNvSpPr>
          <p:nvPr/>
        </p:nvSpPr>
        <p:spPr>
          <a:xfrm xmlns:a="http://schemas.openxmlformats.org/drawingml/2006/main">
            <a:off x="9029700"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84" name="j2-gnd-to-j3">
            <a:extLst xmlns:a="http://schemas.openxmlformats.org/drawingml/2006/main">
              <a:ext uri="{FF2B5EF4-FFF2-40B4-BE49-F238E27FC236}">
                <a16:creationId xmlns:a16="http://schemas.microsoft.com/office/drawing/2014/main" id="{3D3568B4-A903-42CC-B2B6-D916947EE064}"/>
              </a:ext>
            </a:extLst>
          </p:cNvPr>
          <p:cNvSpPr>
            <a:spLocks xmlns:a="http://schemas.openxmlformats.org/drawingml/2006/main" noGrp="1"/>
          </p:cNvSpPr>
          <p:nvPr/>
        </p:nvSpPr>
        <p:spPr>
          <a:xfrm xmlns:a="http://schemas.openxmlformats.org/drawingml/2006/main">
            <a:off x="9077325" y="3486150"/>
            <a:ext cx="76200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85" name="j2-gnd-terminal">
            <a:extLst xmlns:a="http://schemas.openxmlformats.org/drawingml/2006/main">
              <a:ext uri="{FF2B5EF4-FFF2-40B4-BE49-F238E27FC236}">
                <a16:creationId xmlns:a16="http://schemas.microsoft.com/office/drawing/2014/main" id="{6AC8B6C5-DBC3-47DC-8C75-F4822AE98760}"/>
              </a:ext>
            </a:extLst>
          </p:cNvPr>
          <p:cNvSpPr>
            <a:spLocks xmlns:a="http://schemas.openxmlformats.org/drawingml/2006/main" noGrp="1"/>
          </p:cNvSpPr>
          <p:nvPr/>
        </p:nvSpPr>
        <p:spPr>
          <a:xfrm xmlns:a="http://schemas.openxmlformats.org/drawingml/2006/main">
            <a:off x="9029700" y="34385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86" name="j2-sda-to-j3">
            <a:extLst xmlns:a="http://schemas.openxmlformats.org/drawingml/2006/main">
              <a:ext uri="{FF2B5EF4-FFF2-40B4-BE49-F238E27FC236}">
                <a16:creationId xmlns:a16="http://schemas.microsoft.com/office/drawing/2014/main" id="{CC830179-31BB-4A78-843A-41A004B348E8}"/>
              </a:ext>
            </a:extLst>
          </p:cNvPr>
          <p:cNvSpPr>
            <a:spLocks xmlns:a="http://schemas.openxmlformats.org/drawingml/2006/main" noGrp="1"/>
          </p:cNvSpPr>
          <p:nvPr/>
        </p:nvSpPr>
        <p:spPr>
          <a:xfrm xmlns:a="http://schemas.openxmlformats.org/drawingml/2006/main">
            <a:off x="9077325" y="3829050"/>
            <a:ext cx="762000" cy="0"/>
          </a:xfrm>
          <a:prstGeom xmlns:a="http://schemas.openxmlformats.org/drawingml/2006/main" prst="line">
            <a:avLst/>
          </a:prstGeom>
          <a:noFill xmlns:a="http://schemas.openxmlformats.org/drawingml/2006/main"/>
          <a:ln xmlns:a="http://schemas.openxmlformats.org/drawingml/2006/main" w="23813">
            <a:solidFill>
              <a:srgbClr val="175CD3"/>
            </a:solidFill>
            <a:prstDash val="solid"/>
          </a:ln>
        </p:spPr>
      </p:sp>
      <p:sp>
        <p:nvSpPr>
          <p:cNvPr id="87" name="j2-sda-terminal">
            <a:extLst xmlns:a="http://schemas.openxmlformats.org/drawingml/2006/main">
              <a:ext uri="{FF2B5EF4-FFF2-40B4-BE49-F238E27FC236}">
                <a16:creationId xmlns:a16="http://schemas.microsoft.com/office/drawing/2014/main" id="{9AFDE224-CD55-42A0-A112-F4E5289077AD}"/>
              </a:ext>
            </a:extLst>
          </p:cNvPr>
          <p:cNvSpPr>
            <a:spLocks xmlns:a="http://schemas.openxmlformats.org/drawingml/2006/main" noGrp="1"/>
          </p:cNvSpPr>
          <p:nvPr/>
        </p:nvSpPr>
        <p:spPr>
          <a:xfrm xmlns:a="http://schemas.openxmlformats.org/drawingml/2006/main">
            <a:off x="9029700" y="37814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88" name="j2-scl-to-j3">
            <a:extLst xmlns:a="http://schemas.openxmlformats.org/drawingml/2006/main">
              <a:ext uri="{FF2B5EF4-FFF2-40B4-BE49-F238E27FC236}">
                <a16:creationId xmlns:a16="http://schemas.microsoft.com/office/drawing/2014/main" id="{904B58ED-F4C3-4AAA-8AD2-ADB756E830BA}"/>
              </a:ext>
            </a:extLst>
          </p:cNvPr>
          <p:cNvSpPr>
            <a:spLocks xmlns:a="http://schemas.openxmlformats.org/drawingml/2006/main" noGrp="1"/>
          </p:cNvSpPr>
          <p:nvPr/>
        </p:nvSpPr>
        <p:spPr>
          <a:xfrm xmlns:a="http://schemas.openxmlformats.org/drawingml/2006/main">
            <a:off x="9077325" y="4171950"/>
            <a:ext cx="762000" cy="0"/>
          </a:xfrm>
          <a:prstGeom xmlns:a="http://schemas.openxmlformats.org/drawingml/2006/main" prst="line">
            <a:avLst/>
          </a:prstGeom>
          <a:noFill xmlns:a="http://schemas.openxmlformats.org/drawingml/2006/main"/>
          <a:ln xmlns:a="http://schemas.openxmlformats.org/drawingml/2006/main" w="23813">
            <a:solidFill>
              <a:srgbClr val="B54708"/>
            </a:solidFill>
            <a:prstDash val="solid"/>
          </a:ln>
        </p:spPr>
      </p:sp>
      <p:sp>
        <p:nvSpPr>
          <p:cNvPr id="89" name="j2-scl-terminal">
            <a:extLst xmlns:a="http://schemas.openxmlformats.org/drawingml/2006/main">
              <a:ext uri="{FF2B5EF4-FFF2-40B4-BE49-F238E27FC236}">
                <a16:creationId xmlns:a16="http://schemas.microsoft.com/office/drawing/2014/main" id="{88276D66-60C2-44B1-B1B4-F16281469840}"/>
              </a:ext>
            </a:extLst>
          </p:cNvPr>
          <p:cNvSpPr>
            <a:spLocks xmlns:a="http://schemas.openxmlformats.org/drawingml/2006/main" noGrp="1"/>
          </p:cNvSpPr>
          <p:nvPr/>
        </p:nvSpPr>
        <p:spPr>
          <a:xfrm xmlns:a="http://schemas.openxmlformats.org/drawingml/2006/main">
            <a:off x="9029700" y="41243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90" name="oled-instructions">
            <a:extLst xmlns:a="http://schemas.openxmlformats.org/drawingml/2006/main">
              <a:ext uri="{FF2B5EF4-FFF2-40B4-BE49-F238E27FC236}">
                <a16:creationId xmlns:a16="http://schemas.microsoft.com/office/drawing/2014/main" id="{2B05FA08-435C-4A6A-8B1E-B0AFA23A4128}"/>
              </a:ext>
            </a:extLst>
          </p:cNvPr>
          <p:cNvSpPr>
            <a:spLocks xmlns:a="http://schemas.openxmlformats.org/drawingml/2006/main" noGrp="1"/>
          </p:cNvSpPr>
          <p:nvPr/>
        </p:nvSpPr>
        <p:spPr>
          <a:xfrm xmlns:a="http://schemas.openxmlformats.org/drawingml/2006/main">
            <a:off x="9886950" y="4438650"/>
            <a:ext cx="1695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42318"/>
                </a:solidFill>
                <a:latin typeface="Arial"/>
                <a:ea typeface="Arial"/>
                <a:cs typeface="Arial"/>
              </a:defRPr>
            </a:defPPr>
            <a:lvl1pPr algn="l">
              <a:buNone/>
              <a:defRPr sz="825" b="1">
                <a:solidFill>
                  <a:srgbClr val="B42318"/>
                </a:solidFill>
                <a:latin typeface="Arial"/>
                <a:ea typeface="Arial"/>
                <a:cs typeface="Arial"/>
              </a:defRPr>
            </a:lvl1pPr>
            <a:lvl2pPr algn="l">
              <a:buNone/>
              <a:defRPr sz="825" b="1">
                <a:solidFill>
                  <a:srgbClr val="B42318"/>
                </a:solidFill>
                <a:latin typeface="Arial"/>
                <a:ea typeface="Arial"/>
                <a:cs typeface="Arial"/>
              </a:defRPr>
            </a:lvl2pPr>
            <a:lvl3pPr algn="l">
              <a:buNone/>
              <a:defRPr sz="825" b="1">
                <a:solidFill>
                  <a:srgbClr val="B42318"/>
                </a:solidFill>
                <a:latin typeface="Arial"/>
                <a:ea typeface="Arial"/>
                <a:cs typeface="Arial"/>
              </a:defRPr>
            </a:lvl3pPr>
            <a:lvl4pPr algn="l">
              <a:buNone/>
              <a:defRPr sz="825" b="1">
                <a:solidFill>
                  <a:srgbClr val="B42318"/>
                </a:solidFill>
                <a:latin typeface="Arial"/>
                <a:ea typeface="Arial"/>
                <a:cs typeface="Arial"/>
              </a:defRPr>
            </a:lvl4pPr>
            <a:lvl5pPr algn="l">
              <a:buNone/>
              <a:defRPr sz="825" b="1">
                <a:solidFill>
                  <a:srgbClr val="B42318"/>
                </a:solidFill>
                <a:latin typeface="Arial"/>
                <a:ea typeface="Arial"/>
                <a:cs typeface="Arial"/>
              </a:defRPr>
            </a:lvl5pPr>
            <a:lvl6pPr algn="l">
              <a:buNone/>
              <a:defRPr sz="825" b="1">
                <a:solidFill>
                  <a:srgbClr val="B42318"/>
                </a:solidFill>
                <a:latin typeface="Arial"/>
                <a:ea typeface="Arial"/>
                <a:cs typeface="Arial"/>
              </a:defRPr>
            </a:lvl6pPr>
            <a:lvl7pPr algn="l">
              <a:buNone/>
              <a:defRPr sz="825" b="1">
                <a:solidFill>
                  <a:srgbClr val="B42318"/>
                </a:solidFill>
                <a:latin typeface="Arial"/>
                <a:ea typeface="Arial"/>
                <a:cs typeface="Arial"/>
              </a:defRPr>
            </a:lvl7pPr>
            <a:lvl8pPr algn="l">
              <a:buNone/>
              <a:defRPr sz="825" b="1">
                <a:solidFill>
                  <a:srgbClr val="B42318"/>
                </a:solidFill>
                <a:latin typeface="Arial"/>
                <a:ea typeface="Arial"/>
                <a:cs typeface="Arial"/>
              </a:defRPr>
            </a:lvl8pPr>
            <a:lvl9pPr algn="l">
              <a:buNone/>
              <a:defRPr sz="825" b="1">
                <a:solidFill>
                  <a:srgbClr val="B42318"/>
                </a:solidFill>
                <a:latin typeface="Arial"/>
                <a:ea typeface="Arial"/>
                <a:cs typeface="Arial"/>
              </a:defRPr>
            </a:lvl9pPr>
          </a:lstStyle>
          <a:p xmlns:a="http://schemas.openxmlformats.org/drawingml/2006/main">
            <a:pPr algn="l">
              <a:buNone/>
              <a:defRPr sz="825" b="1">
                <a:solidFill>
                  <a:srgbClr val="B42318"/>
                </a:solidFill>
                <a:latin typeface="Arial"/>
                <a:ea typeface="Arial"/>
                <a:cs typeface="Arial"/>
              </a:defRPr>
            </a:pPr>
            <a:r>
              <a:rPr sz="825" b="1">
                <a:solidFill>
                  <a:srgbClr val="B42318"/>
                </a:solidFill>
                <a:latin typeface="Arial"/>
                <a:ea typeface="Arial"/>
                <a:cs typeface="Arial"/>
              </a:rPr>
              <a:t>VCC 3,3 V · không cấp 5 V</a:t>
            </a:r>
          </a:p>
        </p:txBody>
      </p:sp>
      <p:sp>
        <p:nvSpPr>
          <p:cNvPr id="91" name="j1-gnd-to-trunk">
            <a:extLst xmlns:a="http://schemas.openxmlformats.org/drawingml/2006/main">
              <a:ext uri="{FF2B5EF4-FFF2-40B4-BE49-F238E27FC236}">
                <a16:creationId xmlns:a16="http://schemas.microsoft.com/office/drawing/2014/main" id="{38358592-9140-4107-8951-B4B3479792D9}"/>
              </a:ext>
            </a:extLst>
          </p:cNvPr>
          <p:cNvSpPr>
            <a:spLocks xmlns:a="http://schemas.openxmlformats.org/drawingml/2006/main" noGrp="1"/>
          </p:cNvSpPr>
          <p:nvPr/>
        </p:nvSpPr>
        <p:spPr>
          <a:xfrm xmlns:a="http://schemas.openxmlformats.org/drawingml/2006/main">
            <a:off x="2486025" y="3619500"/>
            <a:ext cx="276225"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2" name="j1-gnd-drop">
            <a:extLst xmlns:a="http://schemas.openxmlformats.org/drawingml/2006/main">
              <a:ext uri="{FF2B5EF4-FFF2-40B4-BE49-F238E27FC236}">
                <a16:creationId xmlns:a16="http://schemas.microsoft.com/office/drawing/2014/main" id="{B6FDEB37-3744-4740-8994-B1C47DF6DA70}"/>
              </a:ext>
            </a:extLst>
          </p:cNvPr>
          <p:cNvSpPr>
            <a:spLocks xmlns:a="http://schemas.openxmlformats.org/drawingml/2006/main" noGrp="1"/>
          </p:cNvSpPr>
          <p:nvPr/>
        </p:nvSpPr>
        <p:spPr>
          <a:xfrm xmlns:a="http://schemas.openxmlformats.org/drawingml/2006/main">
            <a:off x="2762250" y="3619500"/>
            <a:ext cx="0" cy="123825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3" name="gnd-trunk">
            <a:extLst xmlns:a="http://schemas.openxmlformats.org/drawingml/2006/main">
              <a:ext uri="{FF2B5EF4-FFF2-40B4-BE49-F238E27FC236}">
                <a16:creationId xmlns:a16="http://schemas.microsoft.com/office/drawing/2014/main" id="{C44E78B7-9F61-43E0-A5DA-0A27D1E7B5D1}"/>
              </a:ext>
            </a:extLst>
          </p:cNvPr>
          <p:cNvSpPr>
            <a:spLocks xmlns:a="http://schemas.openxmlformats.org/drawingml/2006/main" noGrp="1"/>
          </p:cNvSpPr>
          <p:nvPr/>
        </p:nvSpPr>
        <p:spPr>
          <a:xfrm xmlns:a="http://schemas.openxmlformats.org/drawingml/2006/main">
            <a:off x="2762250" y="4857750"/>
            <a:ext cx="4362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4" name="j2-gnd-drop">
            <a:extLst xmlns:a="http://schemas.openxmlformats.org/drawingml/2006/main">
              <a:ext uri="{FF2B5EF4-FFF2-40B4-BE49-F238E27FC236}">
                <a16:creationId xmlns:a16="http://schemas.microsoft.com/office/drawing/2014/main" id="{6F430703-A7DB-4E5C-BCD0-0274F290C65E}"/>
              </a:ext>
            </a:extLst>
          </p:cNvPr>
          <p:cNvSpPr>
            <a:spLocks xmlns:a="http://schemas.openxmlformats.org/drawingml/2006/main" noGrp="1"/>
          </p:cNvSpPr>
          <p:nvPr/>
        </p:nvSpPr>
        <p:spPr>
          <a:xfrm xmlns:a="http://schemas.openxmlformats.org/drawingml/2006/main">
            <a:off x="6905625" y="4286250"/>
            <a:ext cx="0" cy="5715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5" name="trunk-to-j2-gnd">
            <a:extLst xmlns:a="http://schemas.openxmlformats.org/drawingml/2006/main">
              <a:ext uri="{FF2B5EF4-FFF2-40B4-BE49-F238E27FC236}">
                <a16:creationId xmlns:a16="http://schemas.microsoft.com/office/drawing/2014/main" id="{34B78AD3-AB0C-46D1-9A2E-A89E4B46DB9D}"/>
              </a:ext>
            </a:extLst>
          </p:cNvPr>
          <p:cNvSpPr>
            <a:spLocks xmlns:a="http://schemas.openxmlformats.org/drawingml/2006/main" noGrp="1"/>
          </p:cNvSpPr>
          <p:nvPr/>
        </p:nvSpPr>
        <p:spPr>
          <a:xfrm xmlns:a="http://schemas.openxmlformats.org/drawingml/2006/main">
            <a:off x="6905625" y="4286250"/>
            <a:ext cx="171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6" name="r2-to-trunk">
            <a:extLst xmlns:a="http://schemas.openxmlformats.org/drawingml/2006/main">
              <a:ext uri="{FF2B5EF4-FFF2-40B4-BE49-F238E27FC236}">
                <a16:creationId xmlns:a16="http://schemas.microsoft.com/office/drawing/2014/main" id="{4A57A44E-8BA6-42A8-A27D-FEE906A6AC11}"/>
              </a:ext>
            </a:extLst>
          </p:cNvPr>
          <p:cNvSpPr>
            <a:spLocks xmlns:a="http://schemas.openxmlformats.org/drawingml/2006/main" noGrp="1"/>
          </p:cNvSpPr>
          <p:nvPr/>
        </p:nvSpPr>
        <p:spPr>
          <a:xfrm xmlns:a="http://schemas.openxmlformats.org/drawingml/2006/main">
            <a:off x="4581525" y="4705350"/>
            <a:ext cx="0" cy="1524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7" name="c1-to-trunk">
            <a:extLst xmlns:a="http://schemas.openxmlformats.org/drawingml/2006/main">
              <a:ext uri="{FF2B5EF4-FFF2-40B4-BE49-F238E27FC236}">
                <a16:creationId xmlns:a16="http://schemas.microsoft.com/office/drawing/2014/main" id="{8EA879EB-A39A-48E7-904E-26169B95BC58}"/>
              </a:ext>
            </a:extLst>
          </p:cNvPr>
          <p:cNvSpPr>
            <a:spLocks xmlns:a="http://schemas.openxmlformats.org/drawingml/2006/main" noGrp="1"/>
          </p:cNvSpPr>
          <p:nvPr/>
        </p:nvSpPr>
        <p:spPr>
          <a:xfrm xmlns:a="http://schemas.openxmlformats.org/drawingml/2006/main">
            <a:off x="5762625" y="4705350"/>
            <a:ext cx="0" cy="1524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8" name="gnd-junction-r2">
            <a:extLst xmlns:a="http://schemas.openxmlformats.org/drawingml/2006/main">
              <a:ext uri="{FF2B5EF4-FFF2-40B4-BE49-F238E27FC236}">
                <a16:creationId xmlns:a16="http://schemas.microsoft.com/office/drawing/2014/main" id="{DE3C58E7-80A7-4353-B023-27585630B237}"/>
              </a:ext>
            </a:extLst>
          </p:cNvPr>
          <p:cNvSpPr>
            <a:spLocks xmlns:a="http://schemas.openxmlformats.org/drawingml/2006/main" noGrp="1"/>
          </p:cNvSpPr>
          <p:nvPr/>
        </p:nvSpPr>
        <p:spPr>
          <a:xfrm xmlns:a="http://schemas.openxmlformats.org/drawingml/2006/main">
            <a:off x="45339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99" name="gnd-junction-c1">
            <a:extLst xmlns:a="http://schemas.openxmlformats.org/drawingml/2006/main">
              <a:ext uri="{FF2B5EF4-FFF2-40B4-BE49-F238E27FC236}">
                <a16:creationId xmlns:a16="http://schemas.microsoft.com/office/drawing/2014/main" id="{C1FBB8A0-77B1-47E6-BA1A-77A751C4D9D2}"/>
              </a:ext>
            </a:extLst>
          </p:cNvPr>
          <p:cNvSpPr>
            <a:spLocks xmlns:a="http://schemas.openxmlformats.org/drawingml/2006/main" noGrp="1"/>
          </p:cNvSpPr>
          <p:nvPr/>
        </p:nvSpPr>
        <p:spPr>
          <a:xfrm xmlns:a="http://schemas.openxmlformats.org/drawingml/2006/main">
            <a:off x="57150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0" name="gnd-junction-j2">
            <a:extLst xmlns:a="http://schemas.openxmlformats.org/drawingml/2006/main">
              <a:ext uri="{FF2B5EF4-FFF2-40B4-BE49-F238E27FC236}">
                <a16:creationId xmlns:a16="http://schemas.microsoft.com/office/drawing/2014/main" id="{9997A7D0-76DD-4F6D-BBC5-DB0624AAA1B5}"/>
              </a:ext>
            </a:extLst>
          </p:cNvPr>
          <p:cNvSpPr>
            <a:spLocks xmlns:a="http://schemas.openxmlformats.org/drawingml/2006/main" noGrp="1"/>
          </p:cNvSpPr>
          <p:nvPr/>
        </p:nvSpPr>
        <p:spPr>
          <a:xfrm xmlns:a="http://schemas.openxmlformats.org/drawingml/2006/main">
            <a:off x="68580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1" name="gnd-net">
            <a:extLst xmlns:a="http://schemas.openxmlformats.org/drawingml/2006/main">
              <a:ext uri="{FF2B5EF4-FFF2-40B4-BE49-F238E27FC236}">
                <a16:creationId xmlns:a16="http://schemas.microsoft.com/office/drawing/2014/main" id="{3D6574AD-A28B-4949-BBB3-7D43E3CBBB66}"/>
              </a:ext>
            </a:extLst>
          </p:cNvPr>
          <p:cNvSpPr>
            <a:spLocks xmlns:a="http://schemas.openxmlformats.org/drawingml/2006/main" noGrp="1"/>
          </p:cNvSpPr>
          <p:nvPr/>
        </p:nvSpPr>
        <p:spPr>
          <a:xfrm xmlns:a="http://schemas.openxmlformats.org/drawingml/2006/main">
            <a:off x="4448175" y="48863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263B42"/>
                </a:solidFill>
                <a:latin typeface="Arial"/>
                <a:ea typeface="Arial"/>
                <a:cs typeface="Arial"/>
              </a:defRPr>
            </a:defPPr>
            <a:lvl1pPr algn="ctr">
              <a:buNone/>
              <a:defRPr sz="900" b="1">
                <a:solidFill>
                  <a:srgbClr val="263B42"/>
                </a:solidFill>
                <a:latin typeface="Arial"/>
                <a:ea typeface="Arial"/>
                <a:cs typeface="Arial"/>
              </a:defRPr>
            </a:lvl1pPr>
            <a:lvl2pPr algn="ctr">
              <a:buNone/>
              <a:defRPr sz="900" b="1">
                <a:solidFill>
                  <a:srgbClr val="263B42"/>
                </a:solidFill>
                <a:latin typeface="Arial"/>
                <a:ea typeface="Arial"/>
                <a:cs typeface="Arial"/>
              </a:defRPr>
            </a:lvl2pPr>
            <a:lvl3pPr algn="ctr">
              <a:buNone/>
              <a:defRPr sz="900" b="1">
                <a:solidFill>
                  <a:srgbClr val="263B42"/>
                </a:solidFill>
                <a:latin typeface="Arial"/>
                <a:ea typeface="Arial"/>
                <a:cs typeface="Arial"/>
              </a:defRPr>
            </a:lvl3pPr>
            <a:lvl4pPr algn="ctr">
              <a:buNone/>
              <a:defRPr sz="900" b="1">
                <a:solidFill>
                  <a:srgbClr val="263B42"/>
                </a:solidFill>
                <a:latin typeface="Arial"/>
                <a:ea typeface="Arial"/>
                <a:cs typeface="Arial"/>
              </a:defRPr>
            </a:lvl4pPr>
            <a:lvl5pPr algn="ctr">
              <a:buNone/>
              <a:defRPr sz="900" b="1">
                <a:solidFill>
                  <a:srgbClr val="263B42"/>
                </a:solidFill>
                <a:latin typeface="Arial"/>
                <a:ea typeface="Arial"/>
                <a:cs typeface="Arial"/>
              </a:defRPr>
            </a:lvl5pPr>
            <a:lvl6pPr algn="ctr">
              <a:buNone/>
              <a:defRPr sz="900" b="1">
                <a:solidFill>
                  <a:srgbClr val="263B42"/>
                </a:solidFill>
                <a:latin typeface="Arial"/>
                <a:ea typeface="Arial"/>
                <a:cs typeface="Arial"/>
              </a:defRPr>
            </a:lvl6pPr>
            <a:lvl7pPr algn="ctr">
              <a:buNone/>
              <a:defRPr sz="900" b="1">
                <a:solidFill>
                  <a:srgbClr val="263B42"/>
                </a:solidFill>
                <a:latin typeface="Arial"/>
                <a:ea typeface="Arial"/>
                <a:cs typeface="Arial"/>
              </a:defRPr>
            </a:lvl7pPr>
            <a:lvl8pPr algn="ctr">
              <a:buNone/>
              <a:defRPr sz="900" b="1">
                <a:solidFill>
                  <a:srgbClr val="263B42"/>
                </a:solidFill>
                <a:latin typeface="Arial"/>
                <a:ea typeface="Arial"/>
                <a:cs typeface="Arial"/>
              </a:defRPr>
            </a:lvl8pPr>
            <a:lvl9pPr algn="ctr">
              <a:buNone/>
              <a:defRPr sz="900" b="1">
                <a:solidFill>
                  <a:srgbClr val="263B42"/>
                </a:solidFill>
                <a:latin typeface="Arial"/>
                <a:ea typeface="Arial"/>
                <a:cs typeface="Arial"/>
              </a:defRPr>
            </a:lvl9pPr>
          </a:lstStyle>
          <a:p xmlns:a="http://schemas.openxmlformats.org/drawingml/2006/main">
            <a:pPr algn="ctr">
              <a:buNone/>
              <a:defRPr sz="900" b="1">
                <a:solidFill>
                  <a:srgbClr val="263B42"/>
                </a:solidFill>
                <a:latin typeface="Arial"/>
                <a:ea typeface="Arial"/>
                <a:cs typeface="Arial"/>
              </a:defRPr>
            </a:pPr>
            <a:r>
              <a:rPr sz="900" b="1">
                <a:solidFill>
                  <a:srgbClr val="263B42"/>
                </a:solidFill>
                <a:latin typeface="Arial"/>
                <a:ea typeface="Arial"/>
                <a:cs typeface="Arial"/>
              </a:rPr>
              <a:t>0 V  ·  GND chung</a:t>
            </a:r>
          </a:p>
        </p:txBody>
      </p:sp>
      <p:sp>
        <p:nvSpPr>
          <p:cNvPr id="102" name="gnd-symbol-stem">
            <a:extLst xmlns:a="http://schemas.openxmlformats.org/drawingml/2006/main">
              <a:ext uri="{FF2B5EF4-FFF2-40B4-BE49-F238E27FC236}">
                <a16:creationId xmlns:a16="http://schemas.microsoft.com/office/drawing/2014/main" id="{9A0E3A17-906B-4CAE-8BCD-7A651E992357}"/>
              </a:ext>
            </a:extLst>
          </p:cNvPr>
          <p:cNvSpPr>
            <a:spLocks xmlns:a="http://schemas.openxmlformats.org/drawingml/2006/main" noGrp="1"/>
          </p:cNvSpPr>
          <p:nvPr/>
        </p:nvSpPr>
        <p:spPr>
          <a:xfrm xmlns:a="http://schemas.openxmlformats.org/drawingml/2006/main">
            <a:off x="2762250" y="4857750"/>
            <a:ext cx="0" cy="11430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3" name="gnd-symbol-bar1">
            <a:extLst xmlns:a="http://schemas.openxmlformats.org/drawingml/2006/main">
              <a:ext uri="{FF2B5EF4-FFF2-40B4-BE49-F238E27FC236}">
                <a16:creationId xmlns:a16="http://schemas.microsoft.com/office/drawing/2014/main" id="{8CE8A3A0-6534-4FC2-AF05-5974A2679DCD}"/>
              </a:ext>
            </a:extLst>
          </p:cNvPr>
          <p:cNvSpPr>
            <a:spLocks xmlns:a="http://schemas.openxmlformats.org/drawingml/2006/main" noGrp="1"/>
          </p:cNvSpPr>
          <p:nvPr/>
        </p:nvSpPr>
        <p:spPr>
          <a:xfrm xmlns:a="http://schemas.openxmlformats.org/drawingml/2006/main">
            <a:off x="2638425" y="4972050"/>
            <a:ext cx="2476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4" name="gnd-symbol-bar2">
            <a:extLst xmlns:a="http://schemas.openxmlformats.org/drawingml/2006/main">
              <a:ext uri="{FF2B5EF4-FFF2-40B4-BE49-F238E27FC236}">
                <a16:creationId xmlns:a16="http://schemas.microsoft.com/office/drawing/2014/main" id="{8B3CC99F-0A05-4921-B74F-F4DFC4534001}"/>
              </a:ext>
            </a:extLst>
          </p:cNvPr>
          <p:cNvSpPr>
            <a:spLocks xmlns:a="http://schemas.openxmlformats.org/drawingml/2006/main" noGrp="1"/>
          </p:cNvSpPr>
          <p:nvPr/>
        </p:nvSpPr>
        <p:spPr>
          <a:xfrm xmlns:a="http://schemas.openxmlformats.org/drawingml/2006/main">
            <a:off x="2686050" y="5029200"/>
            <a:ext cx="15240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5" name="gnd-symbol-bar3">
            <a:extLst xmlns:a="http://schemas.openxmlformats.org/drawingml/2006/main">
              <a:ext uri="{FF2B5EF4-FFF2-40B4-BE49-F238E27FC236}">
                <a16:creationId xmlns:a16="http://schemas.microsoft.com/office/drawing/2014/main" id="{0C0C662A-493C-4D86-8DCF-7A4B13C82ADC}"/>
              </a:ext>
            </a:extLst>
          </p:cNvPr>
          <p:cNvSpPr>
            <a:spLocks xmlns:a="http://schemas.openxmlformats.org/drawingml/2006/main" noGrp="1"/>
          </p:cNvSpPr>
          <p:nvPr/>
        </p:nvSpPr>
        <p:spPr>
          <a:xfrm xmlns:a="http://schemas.openxmlformats.org/drawingml/2006/main">
            <a:off x="2733675" y="5086350"/>
            <a:ext cx="571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6" name="wire-legend">
            <a:extLst xmlns:a="http://schemas.openxmlformats.org/drawingml/2006/main">
              <a:ext uri="{FF2B5EF4-FFF2-40B4-BE49-F238E27FC236}">
                <a16:creationId xmlns:a16="http://schemas.microsoft.com/office/drawing/2014/main" id="{85C2EF9C-3EC2-4717-8FDA-008AB9BB874D}"/>
              </a:ext>
            </a:extLst>
          </p:cNvPr>
          <p:cNvSpPr>
            <a:spLocks xmlns:a="http://schemas.openxmlformats.org/drawingml/2006/main" noGrp="1"/>
          </p:cNvSpPr>
          <p:nvPr/>
        </p:nvSpPr>
        <p:spPr>
          <a:xfrm xmlns:a="http://schemas.openxmlformats.org/drawingml/2006/main">
            <a:off x="628650" y="5314950"/>
            <a:ext cx="109537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7DDD9"/>
            </a:solidFill>
            <a:prstDash val="solid"/>
          </a:ln>
        </p:spPr>
      </p:sp>
      <p:sp>
        <p:nvSpPr>
          <p:cNvPr id="107" name="legend-title">
            <a:extLst xmlns:a="http://schemas.openxmlformats.org/drawingml/2006/main">
              <a:ext uri="{FF2B5EF4-FFF2-40B4-BE49-F238E27FC236}">
                <a16:creationId xmlns:a16="http://schemas.microsoft.com/office/drawing/2014/main" id="{39D5825A-0D5F-4B88-B112-3844750023AF}"/>
              </a:ext>
            </a:extLst>
          </p:cNvPr>
          <p:cNvSpPr>
            <a:spLocks xmlns:a="http://schemas.openxmlformats.org/drawingml/2006/main" noGrp="1"/>
          </p:cNvSpPr>
          <p:nvPr/>
        </p:nvSpPr>
        <p:spPr>
          <a:xfrm xmlns:a="http://schemas.openxmlformats.org/drawingml/2006/main">
            <a:off x="800100" y="538162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02A33"/>
                </a:solidFill>
                <a:latin typeface="Arial"/>
                <a:ea typeface="Arial"/>
                <a:cs typeface="Arial"/>
              </a:defRPr>
            </a:defPPr>
            <a:lvl1pPr algn="l">
              <a:buNone/>
              <a:defRPr sz="975" b="1">
                <a:solidFill>
                  <a:srgbClr val="102A33"/>
                </a:solidFill>
                <a:latin typeface="Arial"/>
                <a:ea typeface="Arial"/>
                <a:cs typeface="Arial"/>
              </a:defRPr>
            </a:lvl1pPr>
            <a:lvl2pPr algn="l">
              <a:buNone/>
              <a:defRPr sz="975" b="1">
                <a:solidFill>
                  <a:srgbClr val="102A33"/>
                </a:solidFill>
                <a:latin typeface="Arial"/>
                <a:ea typeface="Arial"/>
                <a:cs typeface="Arial"/>
              </a:defRPr>
            </a:lvl2pPr>
            <a:lvl3pPr algn="l">
              <a:buNone/>
              <a:defRPr sz="975" b="1">
                <a:solidFill>
                  <a:srgbClr val="102A33"/>
                </a:solidFill>
                <a:latin typeface="Arial"/>
                <a:ea typeface="Arial"/>
                <a:cs typeface="Arial"/>
              </a:defRPr>
            </a:lvl3pPr>
            <a:lvl4pPr algn="l">
              <a:buNone/>
              <a:defRPr sz="975" b="1">
                <a:solidFill>
                  <a:srgbClr val="102A33"/>
                </a:solidFill>
                <a:latin typeface="Arial"/>
                <a:ea typeface="Arial"/>
                <a:cs typeface="Arial"/>
              </a:defRPr>
            </a:lvl4pPr>
            <a:lvl5pPr algn="l">
              <a:buNone/>
              <a:defRPr sz="975" b="1">
                <a:solidFill>
                  <a:srgbClr val="102A33"/>
                </a:solidFill>
                <a:latin typeface="Arial"/>
                <a:ea typeface="Arial"/>
                <a:cs typeface="Arial"/>
              </a:defRPr>
            </a:lvl5pPr>
            <a:lvl6pPr algn="l">
              <a:buNone/>
              <a:defRPr sz="975" b="1">
                <a:solidFill>
                  <a:srgbClr val="102A33"/>
                </a:solidFill>
                <a:latin typeface="Arial"/>
                <a:ea typeface="Arial"/>
                <a:cs typeface="Arial"/>
              </a:defRPr>
            </a:lvl6pPr>
            <a:lvl7pPr algn="l">
              <a:buNone/>
              <a:defRPr sz="975" b="1">
                <a:solidFill>
                  <a:srgbClr val="102A33"/>
                </a:solidFill>
                <a:latin typeface="Arial"/>
                <a:ea typeface="Arial"/>
                <a:cs typeface="Arial"/>
              </a:defRPr>
            </a:lvl7pPr>
            <a:lvl8pPr algn="l">
              <a:buNone/>
              <a:defRPr sz="975" b="1">
                <a:solidFill>
                  <a:srgbClr val="102A33"/>
                </a:solidFill>
                <a:latin typeface="Arial"/>
                <a:ea typeface="Arial"/>
                <a:cs typeface="Arial"/>
              </a:defRPr>
            </a:lvl8pPr>
            <a:lvl9pPr algn="l">
              <a:buNone/>
              <a:defRPr sz="975" b="1">
                <a:solidFill>
                  <a:srgbClr val="102A33"/>
                </a:solidFill>
                <a:latin typeface="Arial"/>
                <a:ea typeface="Arial"/>
                <a:cs typeface="Arial"/>
              </a:defRPr>
            </a:lvl9pPr>
          </a:lstStyle>
          <a:p xmlns:a="http://schemas.openxmlformats.org/drawingml/2006/main">
            <a:pPr algn="l">
              <a:buNone/>
              <a:defRPr sz="975" b="1">
                <a:solidFill>
                  <a:srgbClr val="102A33"/>
                </a:solidFill>
                <a:latin typeface="Arial"/>
                <a:ea typeface="Arial"/>
                <a:cs typeface="Arial"/>
              </a:defRPr>
            </a:pPr>
            <a:r>
              <a:rPr sz="975" b="1">
                <a:solidFill>
                  <a:srgbClr val="102A33"/>
                </a:solidFill>
                <a:latin typeface="Arial"/>
                <a:ea typeface="Arial"/>
                <a:cs typeface="Arial"/>
              </a:rPr>
              <a:t>QUY ƯỚC DÂY / ĐẤU NỐI</a:t>
            </a:r>
          </a:p>
        </p:txBody>
      </p:sp>
      <p:sp>
        <p:nvSpPr>
          <p:cNvPr id="108" name="legend-colors">
            <a:extLst xmlns:a="http://schemas.openxmlformats.org/drawingml/2006/main">
              <a:ext uri="{FF2B5EF4-FFF2-40B4-BE49-F238E27FC236}">
                <a16:creationId xmlns:a16="http://schemas.microsoft.com/office/drawing/2014/main" id="{FBAADD75-EBA7-4D77-96A4-94A0D95BB6F3}"/>
              </a:ext>
            </a:extLst>
          </p:cNvPr>
          <p:cNvSpPr>
            <a:spLocks xmlns:a="http://schemas.openxmlformats.org/drawingml/2006/main" noGrp="1"/>
          </p:cNvSpPr>
          <p:nvPr/>
        </p:nvSpPr>
        <p:spPr>
          <a:xfrm xmlns:a="http://schemas.openxmlformats.org/drawingml/2006/main">
            <a:off x="800100" y="5600700"/>
            <a:ext cx="104298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172A30"/>
                </a:solidFill>
                <a:latin typeface="Arial"/>
                <a:ea typeface="Arial"/>
                <a:cs typeface="Arial"/>
              </a:defRPr>
            </a:defPPr>
            <a:lvl1pPr algn="l">
              <a:buNone/>
              <a:defRPr sz="975" b="0">
                <a:solidFill>
                  <a:srgbClr val="172A30"/>
                </a:solidFill>
                <a:latin typeface="Arial"/>
                <a:ea typeface="Arial"/>
                <a:cs typeface="Arial"/>
              </a:defRPr>
            </a:lvl1pPr>
            <a:lvl2pPr algn="l">
              <a:buNone/>
              <a:defRPr sz="975" b="0">
                <a:solidFill>
                  <a:srgbClr val="172A30"/>
                </a:solidFill>
                <a:latin typeface="Arial"/>
                <a:ea typeface="Arial"/>
                <a:cs typeface="Arial"/>
              </a:defRPr>
            </a:lvl2pPr>
            <a:lvl3pPr algn="l">
              <a:buNone/>
              <a:defRPr sz="975" b="0">
                <a:solidFill>
                  <a:srgbClr val="172A30"/>
                </a:solidFill>
                <a:latin typeface="Arial"/>
                <a:ea typeface="Arial"/>
                <a:cs typeface="Arial"/>
              </a:defRPr>
            </a:lvl3pPr>
            <a:lvl4pPr algn="l">
              <a:buNone/>
              <a:defRPr sz="975" b="0">
                <a:solidFill>
                  <a:srgbClr val="172A30"/>
                </a:solidFill>
                <a:latin typeface="Arial"/>
                <a:ea typeface="Arial"/>
                <a:cs typeface="Arial"/>
              </a:defRPr>
            </a:lvl4pPr>
            <a:lvl5pPr algn="l">
              <a:buNone/>
              <a:defRPr sz="975" b="0">
                <a:solidFill>
                  <a:srgbClr val="172A30"/>
                </a:solidFill>
                <a:latin typeface="Arial"/>
                <a:ea typeface="Arial"/>
                <a:cs typeface="Arial"/>
              </a:defRPr>
            </a:lvl5pPr>
            <a:lvl6pPr algn="l">
              <a:buNone/>
              <a:defRPr sz="975" b="0">
                <a:solidFill>
                  <a:srgbClr val="172A30"/>
                </a:solidFill>
                <a:latin typeface="Arial"/>
                <a:ea typeface="Arial"/>
                <a:cs typeface="Arial"/>
              </a:defRPr>
            </a:lvl6pPr>
            <a:lvl7pPr algn="l">
              <a:buNone/>
              <a:defRPr sz="975" b="0">
                <a:solidFill>
                  <a:srgbClr val="172A30"/>
                </a:solidFill>
                <a:latin typeface="Arial"/>
                <a:ea typeface="Arial"/>
                <a:cs typeface="Arial"/>
              </a:defRPr>
            </a:lvl7pPr>
            <a:lvl8pPr algn="l">
              <a:buNone/>
              <a:defRPr sz="975" b="0">
                <a:solidFill>
                  <a:srgbClr val="172A30"/>
                </a:solidFill>
                <a:latin typeface="Arial"/>
                <a:ea typeface="Arial"/>
                <a:cs typeface="Arial"/>
              </a:defRPr>
            </a:lvl8pPr>
            <a:lvl9pPr algn="l">
              <a:buNone/>
              <a:defRPr sz="975" b="0">
                <a:solidFill>
                  <a:srgbClr val="172A30"/>
                </a:solidFill>
                <a:latin typeface="Arial"/>
                <a:ea typeface="Arial"/>
                <a:cs typeface="Arial"/>
              </a:defRPr>
            </a:lvl9pPr>
          </a:lstStyle>
          <a:p xmlns:a="http://schemas.openxmlformats.org/drawingml/2006/main">
            <a:pPr algn="l">
              <a:buNone/>
              <a:defRPr sz="975" b="0">
                <a:solidFill>
                  <a:srgbClr val="172A30"/>
                </a:solidFill>
                <a:latin typeface="Arial"/>
                <a:ea typeface="Arial"/>
                <a:cs typeface="Arial"/>
              </a:defRPr>
            </a:pPr>
            <a:r>
              <a:rPr sz="975" b="0">
                <a:solidFill>
                  <a:srgbClr val="172A30"/>
                </a:solidFill>
                <a:latin typeface="Arial"/>
                <a:ea typeface="Arial"/>
                <a:cs typeface="Arial"/>
              </a:rPr>
              <a:t>Xanh lá: GPIO25 → GPIO1  ·  Đen: GND  ·  Đỏ: 3V3  ·  Xanh dương: SDA  ·  Vàng: SCL</a:t>
            </a:r>
          </a:p>
        </p:txBody>
      </p:sp>
      <p:sp>
        <p:nvSpPr>
          <p:cNvPr id="109" name="legend-assembly">
            <a:extLst xmlns:a="http://schemas.openxmlformats.org/drawingml/2006/main">
              <a:ext uri="{FF2B5EF4-FFF2-40B4-BE49-F238E27FC236}">
                <a16:creationId xmlns:a16="http://schemas.microsoft.com/office/drawing/2014/main" id="{DF825BE4-0C05-441C-A5CA-FB749FFF5D91}"/>
              </a:ext>
            </a:extLst>
          </p:cNvPr>
          <p:cNvSpPr>
            <a:spLocks xmlns:a="http://schemas.openxmlformats.org/drawingml/2006/main" noGrp="1"/>
          </p:cNvSpPr>
          <p:nvPr/>
        </p:nvSpPr>
        <p:spPr>
          <a:xfrm xmlns:a="http://schemas.openxmlformats.org/drawingml/2006/main">
            <a:off x="800100" y="5810250"/>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0636A"/>
                </a:solidFill>
                <a:latin typeface="Arial"/>
                <a:ea typeface="Arial"/>
                <a:cs typeface="Arial"/>
              </a:rPr>
              <a:t>R1 mắc nối tiếp; R2 // C1 từ N1 xuống GND. Hai bo dùng 2 cáp USB riêng; không nối VCC OLED vào 5 V.</a:t>
            </a:r>
          </a:p>
        </p:txBody>
      </p:sp>
    </p:spTree>
    <p:extLst>
      <p:ext uri="{BB962C8B-B14F-4D97-AF65-F5344CB8AC3E}">
        <p14:creationId xmlns:p14="http://schemas.microsoft.com/office/powerpoint/2010/main" val="696522489"/>
      </p:ext>
    </p:extLst>
  </p:cSld>
</p:sld>
</file>

<file path=ppt/slides/slide2.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9" name="slide-2-title">
            <a:extLst xmlns:a="http://schemas.openxmlformats.org/drawingml/2006/main">
              <a:ext uri="{FF2B5EF4-FFF2-40B4-BE49-F238E27FC236}">
                <a16:creationId xmlns:a16="http://schemas.microsoft.com/office/drawing/2014/main" id="{034C72CA-02EE-498E-B864-E62DFBC6D4EB}"/>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2700" b="1">
                <a:solidFill>
                  <a:srgbClr val="11232B"/>
                </a:solidFill>
                <a:latin typeface="Arial"/>
                <a:ea typeface="Arial"/>
                <a:cs typeface="Arial"/>
              </a:defRPr>
            </a:pPr>
            <a:r>
              <a:rPr sz="2700" b="1">
                <a:solidFill>
                  <a:srgbClr val="11232B"/>
                </a:solidFill>
                <a:latin typeface="Arial"/>
                <a:ea typeface="Arial"/>
                <a:cs typeface="Arial"/>
              </a:rPr>
              <a:t>Phần cứng cần mua</a:t>
            </a:r>
          </a:p>
        </p:txBody>
      </p:sp>
      <p:sp>
        <p:nvSpPr>
          <p:cNvPr id="2" name="slide-2-strap">
            <a:extLst xmlns:a="http://schemas.openxmlformats.org/drawingml/2006/main">
              <a:ext uri="{FF2B5EF4-FFF2-40B4-BE49-F238E27FC236}">
                <a16:creationId xmlns:a16="http://schemas.microsoft.com/office/drawing/2014/main" id="{CCDA945B-098C-40A1-92CD-26DC4E042504}"/>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Bộ tối thiểu 01 bộ · tổng tham khảo ≈622.000₫, chưa gồm vận chuyển · giá có thể thay đổi.</a:t>
            </a:r>
          </a:p>
        </p:txBody>
      </p:sp>
      <p:sp>
        <p:nvSpPr>
          <p:cNvPr id="3" name="slide-2-header-rule">
            <a:extLst xmlns:a="http://schemas.openxmlformats.org/drawingml/2006/main">
              <a:ext uri="{FF2B5EF4-FFF2-40B4-BE49-F238E27FC236}">
                <a16:creationId xmlns:a16="http://schemas.microsoft.com/office/drawing/2014/main" id="{BAF0D8F7-92C0-4F5A-B8B6-EB5AA020A09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2-index">
            <a:extLst xmlns:a="http://schemas.openxmlformats.org/drawingml/2006/main">
              <a:ext uri="{FF2B5EF4-FFF2-40B4-BE49-F238E27FC236}">
                <a16:creationId xmlns:a16="http://schemas.microsoft.com/office/drawing/2014/main" id="{0E90741F-3021-4065-B55B-F9CAB1157E1A}"/>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50636A"/>
                </a:solidFill>
                <a:latin typeface="Arial"/>
                <a:ea typeface="Arial"/>
                <a:cs typeface="Arial"/>
              </a:defRPr>
            </a:pPr>
            <a:r>
              <a:rPr sz="825" b="1">
                <a:solidFill>
                  <a:srgbClr val="50636A"/>
                </a:solidFill>
                <a:latin typeface="Arial"/>
                <a:ea typeface="Arial"/>
                <a:cs typeface="Arial"/>
              </a:rPr>
              <a:t>RELYFETAL   /   HIL PLAN                                      02  /  03</a:t>
            </a:r>
          </a:p>
        </p:txBody>
      </p:sp>
      <p:graphicFrame>
        <p:nvGraphicFramePr>
          <p:cNvPr id="5" name="">
            <a:extLst xmlns:a="http://schemas.openxmlformats.org/drawingml/2006/main">
              <a:ext uri="{FF2B5EF4-FFF2-40B4-BE49-F238E27FC236}">
                <a16:creationId xmlns:a16="http://schemas.microsoft.com/office/drawing/2014/main" id="{227B7AC0-96F0-4702-97BA-E5ADC38D5579}"/>
              </a:ext>
            </a:extLst>
          </p:cNvPr>
          <p:cNvGraphicFramePr/>
          <p:nvPr/>
        </p:nvGraphicFramePr>
        <p:xfrm>
          <a:off xmlns:a="http://schemas.openxmlformats.org/drawingml/2006/main" x="628650" y="1562100"/>
          <a:ext xmlns:a="http://schemas.openxmlformats.org/drawingml/2006/main" cx="10868025" cy="3333750"/>
        </p:xfrm>
        <a:graphic xmlns:a="http://schemas.openxmlformats.org/drawingml/2006/main">
          <a:graphicData uri="http://schemas.openxmlformats.org/drawingml/2006/table">
            <a:tbl>
              <a:tblPr firstRow="1" bandRow="0"/>
              <a:tblGrid>
                <a:gridCol w="457200"/>
                <a:gridCol w="3333750"/>
                <a:gridCol w="1571625"/>
                <a:gridCol w="5505450"/>
              </a:tblGrid>
              <a:tr h="476250">
                <a:tc>
                  <a:txBody>
                    <a:bodyPr>
                      <a:normAutofit/>
                    </a:bodyPr>
                    <a:lstStyle/>
                    <a:p>
                      <a:r>
                        <a:rPr sz="1200" b="1">
                          <a:solidFill>
                            <a:srgbClr val="F7F8F3"/>
                          </a:solidFill>
                          <a:latin typeface="Arial"/>
                          <a:ea typeface="Arial"/>
                          <a:cs typeface="Arial"/>
                        </a:rPr>
                        <a:t>SL</a:t>
                      </a:r>
                    </a:p>
                  </a:txBody>
                  <a:tcPr marL="91440" marR="91440" marT="45720" marB="45720" anchor="ctr">
                    <a:lnL w="9525">
                      <a:solidFill>
                        <a:srgbClr val="D7DDD9"/>
                      </a:solidFill>
                      <a:prstDash val="solid"/>
                    </a:lnL>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Mã hàng / cấu hình cần mua</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Giá tham khảo</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Nơi mua · mã listing / điều kiện chọn</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r>
              <a:tr h="476250">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J1 · ESP32 DevKit V1</a:t>
                      </a:r>
                    </a:p>
                    <a:p>
                      <a:r>
                        <a:rPr sz="1163" b="0">
                          <a:solidFill>
                            <a:srgbClr val="11232B"/>
                          </a:solidFill>
                          <a:latin typeface="Arial"/>
                          <a:ea typeface="Arial"/>
                          <a:cs typeface="Arial"/>
                        </a:rPr>
                        <a:t>ESP-WROOM-32</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109.000₫</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Shopee #42482058047</a:t>
                      </a:r>
                    </a:p>
                    <a:p>
                      <a:r>
                        <a:rPr sz="1163" b="0">
                          <a:solidFill>
                            <a:srgbClr val="11232B"/>
                          </a:solidFill>
                          <a:latin typeface="Arial"/>
                          <a:ea typeface="Arial"/>
                          <a:cs typeface="Arial"/>
                        </a:rPr>
                        <a:t>Chọn ESP32 cổ điển có DAC GPIO25.</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76250">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J2 · ESP32-S3-DevKitC-1</a:t>
                      </a:r>
                    </a:p>
                    <a:p>
                      <a:r>
                        <a:rPr sz="1163" b="0">
                          <a:solidFill>
                            <a:srgbClr val="11232B"/>
                          </a:solidFill>
                          <a:latin typeface="Arial"/>
                          <a:ea typeface="Arial"/>
                          <a:cs typeface="Arial"/>
                        </a:rPr>
                        <a:t>N8R8 / WROOM-1-N8R8</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250.000₫</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TMe mã 2504</a:t>
                      </a:r>
                    </a:p>
                    <a:p>
                      <a:r>
                        <a:rPr sz="1163" b="0">
                          <a:solidFill>
                            <a:srgbClr val="11232B"/>
                          </a:solidFill>
                          <a:latin typeface="Arial"/>
                          <a:ea typeface="Arial"/>
                          <a:cs typeface="Arial"/>
                        </a:rPr>
                        <a:t>Xác nhận đúng N8R8 (8 MB PSRAM), cổng USB-C.</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r h="476250">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J3 · OLED 0,96 in</a:t>
                      </a:r>
                    </a:p>
                    <a:p>
                      <a:r>
                        <a:rPr sz="1163" b="0">
                          <a:solidFill>
                            <a:srgbClr val="11232B"/>
                          </a:solidFill>
                          <a:latin typeface="Arial"/>
                          <a:ea typeface="Arial"/>
                          <a:cs typeface="Arial"/>
                        </a:rPr>
                        <a:t>SSD1306 · 128×64 · I²C 4 chân</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60.086₫</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Shopee #51514172829</a:t>
                      </a:r>
                    </a:p>
                    <a:p>
                      <a:r>
                        <a:rPr sz="1163" b="0">
                          <a:solidFill>
                            <a:srgbClr val="11232B"/>
                          </a:solidFill>
                          <a:latin typeface="Arial"/>
                          <a:ea typeface="Arial"/>
                          <a:cs typeface="Arial"/>
                        </a:rPr>
                        <a:t>Chọn module 3,3 V; địa chỉ 0x3C.</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76250">
                <a:tc>
                  <a:txBody>
                    <a:bodyPr>
                      <a:normAutofit/>
                    </a:bodyPr>
                    <a:lstStyle/>
                    <a:p>
                      <a:r>
                        <a:rPr sz="1163" b="1">
                          <a:solidFill>
                            <a:srgbClr val="11232B"/>
                          </a:solidFill>
                          <a:latin typeface="Arial"/>
                          <a:ea typeface="Arial"/>
                          <a:cs typeface="Arial"/>
                        </a:rPr>
                        <a:t>2</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R1 10 kΩ + R2 56 kΩ</a:t>
                      </a:r>
                    </a:p>
                    <a:p>
                      <a:r>
                        <a:rPr sz="1163" b="0">
                          <a:solidFill>
                            <a:srgbClr val="11232B"/>
                          </a:solidFill>
                          <a:latin typeface="Arial"/>
                          <a:ea typeface="Arial"/>
                          <a:cs typeface="Arial"/>
                        </a:rPr>
                        <a:t>1/4 W · ±5% · chân cắm</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≈5.500₫*</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Thegioiic: 55₫/con; mua MOQ 50 con mỗi trị số (2 gói).</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r h="476250">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C1 gốm 104 100 nF/50 V +</a:t>
                      </a:r>
                    </a:p>
                    <a:p>
                      <a:r>
                        <a:rPr sz="1163" b="0">
                          <a:solidFill>
                            <a:srgbClr val="11232B"/>
                          </a:solidFill>
                          <a:latin typeface="Arial"/>
                          <a:ea typeface="Arial"/>
                          <a:cs typeface="Arial"/>
                        </a:rPr>
                        <a:t>MB-102 830 lỗ + dây Dupont 40P</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≈69.900₫</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Shopee #43423148258; #5216095760; #25088627856.</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76250">
                <a:tc>
                  <a:txBody>
                    <a:bodyPr>
                      <a:normAutofit/>
                    </a:bodyPr>
                    <a:lstStyle/>
                    <a:p>
                      <a:r>
                        <a:rPr sz="1163" b="1">
                          <a:solidFill>
                            <a:srgbClr val="11232B"/>
                          </a:solidFill>
                          <a:latin typeface="Arial"/>
                          <a:ea typeface="Arial"/>
                          <a:cs typeface="Arial"/>
                        </a:rPr>
                        <a:t>2</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Cáp truyền dữ liệu:</a:t>
                      </a:r>
                    </a:p>
                    <a:p>
                      <a:r>
                        <a:rPr sz="1163" b="0">
                          <a:solidFill>
                            <a:srgbClr val="11232B"/>
                          </a:solidFill>
                          <a:latin typeface="Arial"/>
                          <a:ea typeface="Arial"/>
                          <a:cs typeface="Arial"/>
                        </a:rPr>
                        <a:t>Micro-B 1 m + USB-A→USB-C 1 m</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≈127.300₫</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Shopee #28332691601 + USAMS #22343546073; chọn cáp có data.</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bl>
          </a:graphicData>
        </a:graphic>
      </p:graphicFrame>
      <p:sp>
        <p:nvSpPr>
          <p:cNvPr id="6" name="purchase-note">
            <a:extLst xmlns:a="http://schemas.openxmlformats.org/drawingml/2006/main">
              <a:ext uri="{FF2B5EF4-FFF2-40B4-BE49-F238E27FC236}">
                <a16:creationId xmlns:a16="http://schemas.microsoft.com/office/drawing/2014/main" id="{92C4DCEE-4399-445B-82AC-D8E9F347D46B}"/>
              </a:ext>
            </a:extLst>
          </p:cNvPr>
          <p:cNvSpPr>
            <a:spLocks xmlns:a="http://schemas.openxmlformats.org/drawingml/2006/main" noGrp="1"/>
          </p:cNvSpPr>
          <p:nvPr/>
        </p:nvSpPr>
        <p:spPr>
          <a:xfrm xmlns:a="http://schemas.openxmlformats.org/drawingml/2006/main">
            <a:off x="628650" y="5048250"/>
            <a:ext cx="10868025" cy="1228725"/>
          </a:xfrm>
          <a:prstGeom xmlns:a="http://schemas.openxmlformats.org/drawingml/2006/main" prst="roundRect">
            <a:avLst>
              <a:gd name="adj" fmla="val 11364"/>
            </a:avLst>
          </a:prstGeom>
          <a:solidFill xmlns:a="http://schemas.openxmlformats.org/drawingml/2006/main">
            <a:srgbClr val="F7E4DF"/>
          </a:solidFill>
          <a:ln xmlns:a="http://schemas.openxmlformats.org/drawingml/2006/main" w="0">
            <a:noFill/>
            <a:prstDash val="solid"/>
          </a:ln>
        </p:spPr>
      </p:sp>
      <p:sp>
        <p:nvSpPr>
          <p:cNvPr id="7" name="purchase-note-heading">
            <a:extLst xmlns:a="http://schemas.openxmlformats.org/drawingml/2006/main">
              <a:ext uri="{FF2B5EF4-FFF2-40B4-BE49-F238E27FC236}">
                <a16:creationId xmlns:a16="http://schemas.microsoft.com/office/drawing/2014/main" id="{A64D5465-0234-45C9-9C49-6C9C84652075}"/>
              </a:ext>
            </a:extLst>
          </p:cNvPr>
          <p:cNvSpPr>
            <a:spLocks xmlns:a="http://schemas.openxmlformats.org/drawingml/2006/main" noGrp="1"/>
          </p:cNvSpPr>
          <p:nvPr/>
        </p:nvSpPr>
        <p:spPr>
          <a:xfrm xmlns:a="http://schemas.openxmlformats.org/drawingml/2006/main">
            <a:off x="838200" y="51244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C84B42"/>
                </a:solidFill>
                <a:latin typeface="Arial"/>
                <a:ea typeface="Arial"/>
                <a:cs typeface="Arial"/>
              </a:defRPr>
            </a:defPPr>
            <a:lvl1pPr algn="l">
              <a:buNone/>
              <a:defRPr sz="975" b="1">
                <a:solidFill>
                  <a:srgbClr val="C84B42"/>
                </a:solidFill>
                <a:latin typeface="Arial"/>
                <a:ea typeface="Arial"/>
                <a:cs typeface="Arial"/>
              </a:defRPr>
            </a:lvl1pPr>
            <a:lvl2pPr algn="l">
              <a:buNone/>
              <a:defRPr sz="975" b="1">
                <a:solidFill>
                  <a:srgbClr val="C84B42"/>
                </a:solidFill>
                <a:latin typeface="Arial"/>
                <a:ea typeface="Arial"/>
                <a:cs typeface="Arial"/>
              </a:defRPr>
            </a:lvl2pPr>
            <a:lvl3pPr algn="l">
              <a:buNone/>
              <a:defRPr sz="975" b="1">
                <a:solidFill>
                  <a:srgbClr val="C84B42"/>
                </a:solidFill>
                <a:latin typeface="Arial"/>
                <a:ea typeface="Arial"/>
                <a:cs typeface="Arial"/>
              </a:defRPr>
            </a:lvl3pPr>
            <a:lvl4pPr algn="l">
              <a:buNone/>
              <a:defRPr sz="975" b="1">
                <a:solidFill>
                  <a:srgbClr val="C84B42"/>
                </a:solidFill>
                <a:latin typeface="Arial"/>
                <a:ea typeface="Arial"/>
                <a:cs typeface="Arial"/>
              </a:defRPr>
            </a:lvl4pPr>
            <a:lvl5pPr algn="l">
              <a:buNone/>
              <a:defRPr sz="975" b="1">
                <a:solidFill>
                  <a:srgbClr val="C84B42"/>
                </a:solidFill>
                <a:latin typeface="Arial"/>
                <a:ea typeface="Arial"/>
                <a:cs typeface="Arial"/>
              </a:defRPr>
            </a:lvl5pPr>
            <a:lvl6pPr algn="l">
              <a:buNone/>
              <a:defRPr sz="975" b="1">
                <a:solidFill>
                  <a:srgbClr val="C84B42"/>
                </a:solidFill>
                <a:latin typeface="Arial"/>
                <a:ea typeface="Arial"/>
                <a:cs typeface="Arial"/>
              </a:defRPr>
            </a:lvl6pPr>
            <a:lvl7pPr algn="l">
              <a:buNone/>
              <a:defRPr sz="975" b="1">
                <a:solidFill>
                  <a:srgbClr val="C84B42"/>
                </a:solidFill>
                <a:latin typeface="Arial"/>
                <a:ea typeface="Arial"/>
                <a:cs typeface="Arial"/>
              </a:defRPr>
            </a:lvl7pPr>
            <a:lvl8pPr algn="l">
              <a:buNone/>
              <a:defRPr sz="975" b="1">
                <a:solidFill>
                  <a:srgbClr val="C84B42"/>
                </a:solidFill>
                <a:latin typeface="Arial"/>
                <a:ea typeface="Arial"/>
                <a:cs typeface="Arial"/>
              </a:defRPr>
            </a:lvl8pPr>
            <a:lvl9pPr algn="l">
              <a:buNone/>
              <a:defRPr sz="975" b="1">
                <a:solidFill>
                  <a:srgbClr val="C84B42"/>
                </a:solidFill>
                <a:latin typeface="Arial"/>
                <a:ea typeface="Arial"/>
                <a:cs typeface="Arial"/>
              </a:defRPr>
            </a:lvl9pPr>
          </a:lstStyle>
          <a:p xmlns:a="http://schemas.openxmlformats.org/drawingml/2006/main">
            <a:pPr algn="l">
              <a:buNone/>
              <a:defRPr sz="975" b="1">
                <a:solidFill>
                  <a:srgbClr val="C84B42"/>
                </a:solidFill>
                <a:latin typeface="Arial"/>
                <a:ea typeface="Arial"/>
                <a:cs typeface="Arial"/>
              </a:defRPr>
            </a:pPr>
            <a:r>
              <a:rPr sz="975" b="1">
                <a:solidFill>
                  <a:srgbClr val="C84B42"/>
                </a:solidFill>
                <a:latin typeface="Arial"/>
                <a:ea typeface="Arial"/>
                <a:cs typeface="Arial"/>
              </a:rPr>
              <a:t>KẾT QUẢ MÔ PHỎNG PYTHON · RC lý tưởng · 250 Hz · 2.500 mẫu/ca</a:t>
            </a:r>
          </a:p>
        </p:txBody>
      </p:sp>
      <p:sp>
        <p:nvSpPr>
          <p:cNvPr id="8" name="purchase-note-copy">
            <a:extLst xmlns:a="http://schemas.openxmlformats.org/drawingml/2006/main">
              <a:ext uri="{FF2B5EF4-FFF2-40B4-BE49-F238E27FC236}">
                <a16:creationId xmlns:a16="http://schemas.microsoft.com/office/drawing/2014/main" id="{FF13BDD3-542A-43B0-A27D-5CE809F2CFE0}"/>
              </a:ext>
            </a:extLst>
          </p:cNvPr>
          <p:cNvSpPr>
            <a:spLocks xmlns:a="http://schemas.openxmlformats.org/drawingml/2006/main" noGrp="1"/>
          </p:cNvSpPr>
          <p:nvPr/>
        </p:nvSpPr>
        <p:spPr>
          <a:xfrm xmlns:a="http://schemas.openxmlformats.org/drawingml/2006/main">
            <a:off x="838200" y="5362575"/>
            <a:ext cx="10287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11232B"/>
                </a:solidFill>
                <a:latin typeface="Arial"/>
                <a:ea typeface="Arial"/>
                <a:cs typeface="Arial"/>
              </a:defRPr>
            </a:defPPr>
            <a:lvl1pPr algn="l">
              <a:buNone/>
              <a:defRPr sz="1200" b="0">
                <a:solidFill>
                  <a:srgbClr val="11232B"/>
                </a:solidFill>
                <a:latin typeface="Arial"/>
                <a:ea typeface="Arial"/>
                <a:cs typeface="Arial"/>
              </a:defRPr>
            </a:lvl1pPr>
            <a:lvl2pPr algn="l">
              <a:buNone/>
              <a:defRPr sz="1200" b="0">
                <a:solidFill>
                  <a:srgbClr val="11232B"/>
                </a:solidFill>
                <a:latin typeface="Arial"/>
                <a:ea typeface="Arial"/>
                <a:cs typeface="Arial"/>
              </a:defRPr>
            </a:lvl2pPr>
            <a:lvl3pPr algn="l">
              <a:buNone/>
              <a:defRPr sz="1200" b="0">
                <a:solidFill>
                  <a:srgbClr val="11232B"/>
                </a:solidFill>
                <a:latin typeface="Arial"/>
                <a:ea typeface="Arial"/>
                <a:cs typeface="Arial"/>
              </a:defRPr>
            </a:lvl3pPr>
            <a:lvl4pPr algn="l">
              <a:buNone/>
              <a:defRPr sz="1200" b="0">
                <a:solidFill>
                  <a:srgbClr val="11232B"/>
                </a:solidFill>
                <a:latin typeface="Arial"/>
                <a:ea typeface="Arial"/>
                <a:cs typeface="Arial"/>
              </a:defRPr>
            </a:lvl4pPr>
            <a:lvl5pPr algn="l">
              <a:buNone/>
              <a:defRPr sz="1200" b="0">
                <a:solidFill>
                  <a:srgbClr val="11232B"/>
                </a:solidFill>
                <a:latin typeface="Arial"/>
                <a:ea typeface="Arial"/>
                <a:cs typeface="Arial"/>
              </a:defRPr>
            </a:lvl5pPr>
            <a:lvl6pPr algn="l">
              <a:buNone/>
              <a:defRPr sz="1200" b="0">
                <a:solidFill>
                  <a:srgbClr val="11232B"/>
                </a:solidFill>
                <a:latin typeface="Arial"/>
                <a:ea typeface="Arial"/>
                <a:cs typeface="Arial"/>
              </a:defRPr>
            </a:lvl6pPr>
            <a:lvl7pPr algn="l">
              <a:buNone/>
              <a:defRPr sz="1200" b="0">
                <a:solidFill>
                  <a:srgbClr val="11232B"/>
                </a:solidFill>
                <a:latin typeface="Arial"/>
                <a:ea typeface="Arial"/>
                <a:cs typeface="Arial"/>
              </a:defRPr>
            </a:lvl7pPr>
            <a:lvl8pPr algn="l">
              <a:buNone/>
              <a:defRPr sz="1200" b="0">
                <a:solidFill>
                  <a:srgbClr val="11232B"/>
                </a:solidFill>
                <a:latin typeface="Arial"/>
                <a:ea typeface="Arial"/>
                <a:cs typeface="Arial"/>
              </a:defRPr>
            </a:lvl8pPr>
            <a:lvl9pPr algn="l">
              <a:buNone/>
              <a:defRPr sz="1200" b="0">
                <a:solidFill>
                  <a:srgbClr val="11232B"/>
                </a:solidFill>
                <a:latin typeface="Arial"/>
                <a:ea typeface="Arial"/>
                <a:cs typeface="Arial"/>
              </a:defRPr>
            </a:lvl9pPr>
          </a:lstStyle>
          <a:p xmlns:a="http://schemas.openxmlformats.org/drawingml/2006/main">
            <a:pPr algn="l">
              <a:buNone/>
              <a:defRPr sz="1200" b="0">
                <a:solidFill>
                  <a:srgbClr val="11232B"/>
                </a:solidFill>
                <a:latin typeface="Arial"/>
                <a:ea typeface="Arial"/>
                <a:cs typeface="Arial"/>
              </a:defRPr>
            </a:pPr>
            <a:r>
              <a:rPr sz="1200" b="0">
                <a:solidFill>
                  <a:srgbClr val="11232B"/>
                </a:solidFill>
                <a:latin typeface="Arial"/>
                <a:ea typeface="Arial"/>
                <a:cs typeface="Arial"/>
              </a:rPr>
              <a:t>Đỉnh ADC 2,80 V; R ±5% cao nhất 2,84 V. Lệch pha 0,1 ms cho corr 0,75–0,88. Mean ca a02 ≈2.094 &lt; ngưỡng 2.150; nhánh raw&lt;300 cũng có thể báo nhầm. Cần đồng bộ, hiệu chuẩn ADC và chốt gate trước khi xác nhận HIL.</a:t>
            </a:r>
          </a:p>
        </p:txBody>
      </p:sp>
    </p:spTree>
    <p:extLst>
      <p:ext uri="{BB962C8B-B14F-4D97-AF65-F5344CB8AC3E}">
        <p14:creationId xmlns:p14="http://schemas.microsoft.com/office/powerpoint/2010/main" val="1905642923"/>
      </p:ext>
    </p:extLst>
  </p:cSld>
</p:sld>
</file>

<file path=ppt/slides/slide3.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34" name="slide-3-title">
            <a:extLst xmlns:a="http://schemas.openxmlformats.org/drawingml/2006/main">
              <a:ext uri="{FF2B5EF4-FFF2-40B4-BE49-F238E27FC236}">
                <a16:creationId xmlns:a16="http://schemas.microsoft.com/office/drawing/2014/main" id="{CBB52847-8AD7-4517-B5A9-63EC81928B4A}"/>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2700" b="1">
                <a:solidFill>
                  <a:srgbClr val="11232B"/>
                </a:solidFill>
                <a:latin typeface="Arial"/>
                <a:ea typeface="Arial"/>
                <a:cs typeface="Arial"/>
              </a:defRPr>
            </a:pPr>
            <a:r>
              <a:rPr sz="2700" b="1">
                <a:solidFill>
                  <a:srgbClr val="11232B"/>
                </a:solidFill>
                <a:latin typeface="Arial"/>
                <a:ea typeface="Arial"/>
                <a:cs typeface="Arial"/>
              </a:rPr>
              <a:t>Lắp ráp, chạy thử, chốt bằng chứng</a:t>
            </a:r>
          </a:p>
        </p:txBody>
      </p:sp>
      <p:sp>
        <p:nvSpPr>
          <p:cNvPr id="2" name="slide-3-strap">
            <a:extLst xmlns:a="http://schemas.openxmlformats.org/drawingml/2006/main">
              <a:ext uri="{FF2B5EF4-FFF2-40B4-BE49-F238E27FC236}">
                <a16:creationId xmlns:a16="http://schemas.microsoft.com/office/drawing/2014/main" id="{BDA1E8D1-5F96-4D4D-B0ED-AA3E7E7B8E93}"/>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Chỉ qua bước kế tiếp khi bước trước có log và tín hiệu đo được.</a:t>
            </a:r>
          </a:p>
        </p:txBody>
      </p:sp>
      <p:sp>
        <p:nvSpPr>
          <p:cNvPr id="3" name="slide-3-header-rule">
            <a:extLst xmlns:a="http://schemas.openxmlformats.org/drawingml/2006/main">
              <a:ext uri="{FF2B5EF4-FFF2-40B4-BE49-F238E27FC236}">
                <a16:creationId xmlns:a16="http://schemas.microsoft.com/office/drawing/2014/main" id="{D1B626C3-85BA-4D37-A2DD-43ADEBD7F9A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3-index">
            <a:extLst xmlns:a="http://schemas.openxmlformats.org/drawingml/2006/main">
              <a:ext uri="{FF2B5EF4-FFF2-40B4-BE49-F238E27FC236}">
                <a16:creationId xmlns:a16="http://schemas.microsoft.com/office/drawing/2014/main" id="{AB926F67-5999-4916-AFB6-C4D2A9D30E92}"/>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50636A"/>
                </a:solidFill>
                <a:latin typeface="Arial"/>
                <a:ea typeface="Arial"/>
                <a:cs typeface="Arial"/>
              </a:defRPr>
            </a:pPr>
            <a:r>
              <a:rPr sz="825" b="1">
                <a:solidFill>
                  <a:srgbClr val="50636A"/>
                </a:solidFill>
                <a:latin typeface="Arial"/>
                <a:ea typeface="Arial"/>
                <a:cs typeface="Arial"/>
              </a:rPr>
              <a:t>RELYFETAL   /   HIL PLAN                                      03  /  03</a:t>
            </a:r>
          </a:p>
        </p:txBody>
      </p:sp>
      <p:sp>
        <p:nvSpPr>
          <p:cNvPr id="5" name="step-spine">
            <a:extLst xmlns:a="http://schemas.openxmlformats.org/drawingml/2006/main">
              <a:ext uri="{FF2B5EF4-FFF2-40B4-BE49-F238E27FC236}">
                <a16:creationId xmlns:a16="http://schemas.microsoft.com/office/drawing/2014/main" id="{55026DCB-7482-4F13-8157-6E48457F0803}"/>
              </a:ext>
            </a:extLst>
          </p:cNvPr>
          <p:cNvSpPr>
            <a:spLocks xmlns:a="http://schemas.openxmlformats.org/drawingml/2006/main" noGrp="1"/>
          </p:cNvSpPr>
          <p:nvPr/>
        </p:nvSpPr>
        <p:spPr>
          <a:xfrm xmlns:a="http://schemas.openxmlformats.org/drawingml/2006/main">
            <a:off x="1057275" y="1724025"/>
            <a:ext cx="9525" cy="2771775"/>
          </a:xfrm>
          <a:prstGeom xmlns:a="http://schemas.openxmlformats.org/drawingml/2006/main" prst="line">
            <a:avLst/>
          </a:prstGeom>
          <a:noFill xmlns:a="http://schemas.openxmlformats.org/drawingml/2006/main"/>
          <a:ln xmlns:a="http://schemas.openxmlformats.org/drawingml/2006/main" w="28575">
            <a:solidFill>
              <a:srgbClr val="D7DDD9"/>
            </a:solidFill>
            <a:prstDash val="solid"/>
          </a:ln>
        </p:spPr>
      </p:sp>
      <p:sp>
        <p:nvSpPr>
          <p:cNvPr id="6" name="step-01-dot">
            <a:extLst xmlns:a="http://schemas.openxmlformats.org/drawingml/2006/main">
              <a:ext uri="{FF2B5EF4-FFF2-40B4-BE49-F238E27FC236}">
                <a16:creationId xmlns:a16="http://schemas.microsoft.com/office/drawing/2014/main" id="{3E226805-A040-404B-9B4A-2C893DAB9B50}"/>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ellipse">
            <a:avLst/>
          </a:prstGeom>
          <a:solidFill xmlns:a="http://schemas.openxmlformats.org/drawingml/2006/main">
            <a:srgbClr val="006F68"/>
          </a:solidFill>
          <a:ln xmlns:a="http://schemas.openxmlformats.org/drawingml/2006/main" w="0">
            <a:noFill/>
            <a:prstDash val="solid"/>
          </a:ln>
        </p:spPr>
      </p:sp>
      <p:sp>
        <p:nvSpPr>
          <p:cNvPr id="7" name="step-01-number">
            <a:extLst xmlns:a="http://schemas.openxmlformats.org/drawingml/2006/main">
              <a:ext uri="{FF2B5EF4-FFF2-40B4-BE49-F238E27FC236}">
                <a16:creationId xmlns:a16="http://schemas.microsoft.com/office/drawing/2014/main" id="{F0C2282D-C4BC-4A4A-A8E5-293886790005}"/>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01</a:t>
            </a:r>
          </a:p>
        </p:txBody>
      </p:sp>
      <p:sp>
        <p:nvSpPr>
          <p:cNvPr id="8" name="step-01-title">
            <a:extLst xmlns:a="http://schemas.openxmlformats.org/drawingml/2006/main">
              <a:ext uri="{FF2B5EF4-FFF2-40B4-BE49-F238E27FC236}">
                <a16:creationId xmlns:a16="http://schemas.microsoft.com/office/drawing/2014/main" id="{059C9542-5DCD-4515-9753-6347282F9F09}"/>
              </a:ext>
            </a:extLst>
          </p:cNvPr>
          <p:cNvSpPr>
            <a:spLocks xmlns:a="http://schemas.openxmlformats.org/drawingml/2006/main" noGrp="1"/>
          </p:cNvSpPr>
          <p:nvPr/>
        </p:nvSpPr>
        <p:spPr>
          <a:xfrm xmlns:a="http://schemas.openxmlformats.org/drawingml/2006/main">
            <a:off x="1409700" y="15335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Chốt data + firmware</a:t>
            </a:r>
          </a:p>
        </p:txBody>
      </p:sp>
      <p:sp>
        <p:nvSpPr>
          <p:cNvPr id="9" name="step-01-body">
            <a:extLst xmlns:a="http://schemas.openxmlformats.org/drawingml/2006/main">
              <a:ext uri="{FF2B5EF4-FFF2-40B4-BE49-F238E27FC236}">
                <a16:creationId xmlns:a16="http://schemas.microsoft.com/office/drawing/2014/main" id="{923248DF-B319-4530-971E-E763BB5B98CE}"/>
              </a:ext>
            </a:extLst>
          </p:cNvPr>
          <p:cNvSpPr>
            <a:spLocks xmlns:a="http://schemas.openxmlformats.org/drawingml/2006/main" noGrp="1"/>
          </p:cNvSpPr>
          <p:nvPr/>
        </p:nvSpPr>
        <p:spPr>
          <a:xfrm xmlns:a="http://schemas.openxmlformats.org/drawingml/2006/main">
            <a:off x="1409700" y="18192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Tạo lại r01 / a02 ở 1 kHz từ dữ liệu gốc. Phát theo timer/DMA; tắt Serial.printf mỗi mẫu để tránh jitter.</a:t>
            </a:r>
          </a:p>
        </p:txBody>
      </p:sp>
      <p:sp>
        <p:nvSpPr>
          <p:cNvPr id="10" name="step-divider-0">
            <a:extLst xmlns:a="http://schemas.openxmlformats.org/drawingml/2006/main">
              <a:ext uri="{FF2B5EF4-FFF2-40B4-BE49-F238E27FC236}">
                <a16:creationId xmlns:a16="http://schemas.microsoft.com/office/drawing/2014/main" id="{CE4C718D-4FF9-445C-B025-CC3B78C441ED}"/>
              </a:ext>
            </a:extLst>
          </p:cNvPr>
          <p:cNvSpPr>
            <a:spLocks xmlns:a="http://schemas.openxmlformats.org/drawingml/2006/main" noGrp="1"/>
          </p:cNvSpPr>
          <p:nvPr/>
        </p:nvSpPr>
        <p:spPr>
          <a:xfrm xmlns:a="http://schemas.openxmlformats.org/drawingml/2006/main">
            <a:off x="1409700" y="23526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1" name="step-02-dot">
            <a:extLst xmlns:a="http://schemas.openxmlformats.org/drawingml/2006/main">
              <a:ext uri="{FF2B5EF4-FFF2-40B4-BE49-F238E27FC236}">
                <a16:creationId xmlns:a16="http://schemas.microsoft.com/office/drawing/2014/main" id="{6B3E03F6-A1DB-4A82-876A-E1816F75B13D}"/>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ellipse">
            <a:avLst/>
          </a:prstGeom>
          <a:solidFill xmlns:a="http://schemas.openxmlformats.org/drawingml/2006/main">
            <a:srgbClr val="B87A24"/>
          </a:solidFill>
          <a:ln xmlns:a="http://schemas.openxmlformats.org/drawingml/2006/main" w="0">
            <a:noFill/>
            <a:prstDash val="solid"/>
          </a:ln>
        </p:spPr>
      </p:sp>
      <p:sp>
        <p:nvSpPr>
          <p:cNvPr id="12" name="step-02-number">
            <a:extLst xmlns:a="http://schemas.openxmlformats.org/drawingml/2006/main">
              <a:ext uri="{FF2B5EF4-FFF2-40B4-BE49-F238E27FC236}">
                <a16:creationId xmlns:a16="http://schemas.microsoft.com/office/drawing/2014/main" id="{99DEE413-15D6-42F4-BE67-189CF8543362}"/>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02</a:t>
            </a:r>
          </a:p>
        </p:txBody>
      </p:sp>
      <p:sp>
        <p:nvSpPr>
          <p:cNvPr id="13" name="step-02-title">
            <a:extLst xmlns:a="http://schemas.openxmlformats.org/drawingml/2006/main">
              <a:ext uri="{FF2B5EF4-FFF2-40B4-BE49-F238E27FC236}">
                <a16:creationId xmlns:a16="http://schemas.microsoft.com/office/drawing/2014/main" id="{4D027490-6E82-4582-9148-C7C52645165A}"/>
              </a:ext>
            </a:extLst>
          </p:cNvPr>
          <p:cNvSpPr>
            <a:spLocks xmlns:a="http://schemas.openxmlformats.org/drawingml/2006/main" noGrp="1"/>
          </p:cNvSpPr>
          <p:nvPr/>
        </p:nvSpPr>
        <p:spPr>
          <a:xfrm xmlns:a="http://schemas.openxmlformats.org/drawingml/2006/main">
            <a:off x="14097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Kiểm tra điện áp</a:t>
            </a:r>
          </a:p>
        </p:txBody>
      </p:sp>
      <p:sp>
        <p:nvSpPr>
          <p:cNvPr id="14" name="step-02-body">
            <a:extLst xmlns:a="http://schemas.openxmlformats.org/drawingml/2006/main">
              <a:ext uri="{FF2B5EF4-FFF2-40B4-BE49-F238E27FC236}">
                <a16:creationId xmlns:a16="http://schemas.microsoft.com/office/drawing/2014/main" id="{8F1CA71E-0598-4537-9464-5B6142DB10E8}"/>
              </a:ext>
            </a:extLst>
          </p:cNvPr>
          <p:cNvSpPr>
            <a:spLocks xmlns:a="http://schemas.openxmlformats.org/drawingml/2006/main" noGrp="1"/>
          </p:cNvSpPr>
          <p:nvPr/>
        </p:nvSpPr>
        <p:spPr>
          <a:xfrm xmlns:a="http://schemas.openxmlformats.org/drawingml/2006/main">
            <a:off x="1409700" y="27336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GPIO25 → R1 10 kΩ → nút ADC GPIO1; R2 56 kΩ // C1 100 nF từ nút xuống GND. ADC 12 dB; đỉnh dự kiến ≤2,8 V.</a:t>
            </a:r>
          </a:p>
        </p:txBody>
      </p:sp>
      <p:sp>
        <p:nvSpPr>
          <p:cNvPr id="15" name="step-divider-1">
            <a:extLst xmlns:a="http://schemas.openxmlformats.org/drawingml/2006/main">
              <a:ext uri="{FF2B5EF4-FFF2-40B4-BE49-F238E27FC236}">
                <a16:creationId xmlns:a16="http://schemas.microsoft.com/office/drawing/2014/main" id="{17D8CACB-F3FD-4B99-9630-1129632994D9}"/>
              </a:ext>
            </a:extLst>
          </p:cNvPr>
          <p:cNvSpPr>
            <a:spLocks xmlns:a="http://schemas.openxmlformats.org/drawingml/2006/main" noGrp="1"/>
          </p:cNvSpPr>
          <p:nvPr/>
        </p:nvSpPr>
        <p:spPr>
          <a:xfrm xmlns:a="http://schemas.openxmlformats.org/drawingml/2006/main">
            <a:off x="1409700" y="32670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6" name="step-03-dot">
            <a:extLst xmlns:a="http://schemas.openxmlformats.org/drawingml/2006/main">
              <a:ext uri="{FF2B5EF4-FFF2-40B4-BE49-F238E27FC236}">
                <a16:creationId xmlns:a16="http://schemas.microsoft.com/office/drawing/2014/main" id="{A7DA0DC1-3A49-49B3-88CE-710BA5CDBBEA}"/>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ellipse">
            <a:avLst/>
          </a:prstGeom>
          <a:solidFill xmlns:a="http://schemas.openxmlformats.org/drawingml/2006/main">
            <a:srgbClr val="006F68"/>
          </a:solidFill>
          <a:ln xmlns:a="http://schemas.openxmlformats.org/drawingml/2006/main" w="0">
            <a:noFill/>
            <a:prstDash val="solid"/>
          </a:ln>
        </p:spPr>
      </p:sp>
      <p:sp>
        <p:nvSpPr>
          <p:cNvPr id="17" name="step-03-number">
            <a:extLst xmlns:a="http://schemas.openxmlformats.org/drawingml/2006/main">
              <a:ext uri="{FF2B5EF4-FFF2-40B4-BE49-F238E27FC236}">
                <a16:creationId xmlns:a16="http://schemas.microsoft.com/office/drawing/2014/main" id="{F616068E-D2B9-4B4B-A7EB-213DFBE7552C}"/>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03</a:t>
            </a:r>
          </a:p>
        </p:txBody>
      </p:sp>
      <p:sp>
        <p:nvSpPr>
          <p:cNvPr id="18" name="step-03-title">
            <a:extLst xmlns:a="http://schemas.openxmlformats.org/drawingml/2006/main">
              <a:ext uri="{FF2B5EF4-FFF2-40B4-BE49-F238E27FC236}">
                <a16:creationId xmlns:a16="http://schemas.microsoft.com/office/drawing/2014/main" id="{A3F17B5D-08EB-440D-9DC3-ED7EAFD80B9B}"/>
              </a:ext>
            </a:extLst>
          </p:cNvPr>
          <p:cNvSpPr>
            <a:spLocks xmlns:a="http://schemas.openxmlformats.org/drawingml/2006/main" noGrp="1"/>
          </p:cNvSpPr>
          <p:nvPr/>
        </p:nvSpPr>
        <p:spPr>
          <a:xfrm xmlns:a="http://schemas.openxmlformats.org/drawingml/2006/main">
            <a:off x="1409700" y="33623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Nạp pipeline thật</a:t>
            </a:r>
          </a:p>
        </p:txBody>
      </p:sp>
      <p:sp>
        <p:nvSpPr>
          <p:cNvPr id="19" name="step-03-body">
            <a:extLst xmlns:a="http://schemas.openxmlformats.org/drawingml/2006/main">
              <a:ext uri="{FF2B5EF4-FFF2-40B4-BE49-F238E27FC236}">
                <a16:creationId xmlns:a16="http://schemas.microsoft.com/office/drawing/2014/main" id="{606C418F-9970-4E86-85FF-8AA017E099A6}"/>
              </a:ext>
            </a:extLst>
          </p:cNvPr>
          <p:cNvSpPr>
            <a:spLocks xmlns:a="http://schemas.openxmlformats.org/drawingml/2006/main" noGrp="1"/>
          </p:cNvSpPr>
          <p:nvPr/>
        </p:nvSpPr>
        <p:spPr>
          <a:xfrm xmlns:a="http://schemas.openxmlformats.org/drawingml/2006/main">
            <a:off x="1409700" y="36480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Thu 1.000 mẫu/s, kiểm tra cửa sổ 4 s, tiền xử lý và TCN INT8 đúng cùng cấu hình với đánh giá offline; OLED chỉ là đầu ra.</a:t>
            </a:r>
          </a:p>
        </p:txBody>
      </p:sp>
      <p:sp>
        <p:nvSpPr>
          <p:cNvPr id="20" name="step-divider-2">
            <a:extLst xmlns:a="http://schemas.openxmlformats.org/drawingml/2006/main">
              <a:ext uri="{FF2B5EF4-FFF2-40B4-BE49-F238E27FC236}">
                <a16:creationId xmlns:a16="http://schemas.microsoft.com/office/drawing/2014/main" id="{246DCF6B-43F8-48AA-B4F3-B08E9DD5F0F3}"/>
              </a:ext>
            </a:extLst>
          </p:cNvPr>
          <p:cNvSpPr>
            <a:spLocks xmlns:a="http://schemas.openxmlformats.org/drawingml/2006/main" noGrp="1"/>
          </p:cNvSpPr>
          <p:nvPr/>
        </p:nvSpPr>
        <p:spPr>
          <a:xfrm xmlns:a="http://schemas.openxmlformats.org/drawingml/2006/main">
            <a:off x="1409700" y="41814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21" name="step-04-dot">
            <a:extLst xmlns:a="http://schemas.openxmlformats.org/drawingml/2006/main">
              <a:ext uri="{FF2B5EF4-FFF2-40B4-BE49-F238E27FC236}">
                <a16:creationId xmlns:a16="http://schemas.microsoft.com/office/drawing/2014/main" id="{1E77DC48-EB68-486A-8214-8E643B67CF58}"/>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ellipse">
            <a:avLst/>
          </a:prstGeom>
          <a:solidFill xmlns:a="http://schemas.openxmlformats.org/drawingml/2006/main">
            <a:srgbClr val="C84B42"/>
          </a:solidFill>
          <a:ln xmlns:a="http://schemas.openxmlformats.org/drawingml/2006/main" w="0">
            <a:noFill/>
            <a:prstDash val="solid"/>
          </a:ln>
        </p:spPr>
      </p:sp>
      <p:sp>
        <p:nvSpPr>
          <p:cNvPr id="22" name="step-04-number">
            <a:extLst xmlns:a="http://schemas.openxmlformats.org/drawingml/2006/main">
              <a:ext uri="{FF2B5EF4-FFF2-40B4-BE49-F238E27FC236}">
                <a16:creationId xmlns:a16="http://schemas.microsoft.com/office/drawing/2014/main" id="{CC1F5085-2DB4-4F17-BFE8-D78D0DDD9C09}"/>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04</a:t>
            </a:r>
          </a:p>
        </p:txBody>
      </p:sp>
      <p:sp>
        <p:nvSpPr>
          <p:cNvPr id="23" name="step-04-title">
            <a:extLst xmlns:a="http://schemas.openxmlformats.org/drawingml/2006/main">
              <a:ext uri="{FF2B5EF4-FFF2-40B4-BE49-F238E27FC236}">
                <a16:creationId xmlns:a16="http://schemas.microsoft.com/office/drawing/2014/main" id="{F9E5543B-3865-4F79-A7E2-4A42F7969AA6}"/>
              </a:ext>
            </a:extLst>
          </p:cNvPr>
          <p:cNvSpPr>
            <a:spLocks xmlns:a="http://schemas.openxmlformats.org/drawingml/2006/main" noGrp="1"/>
          </p:cNvSpPr>
          <p:nvPr/>
        </p:nvSpPr>
        <p:spPr>
          <a:xfrm xmlns:a="http://schemas.openxmlformats.org/drawingml/2006/main">
            <a:off x="1409700" y="4276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So khớp hai ca</a:t>
            </a:r>
          </a:p>
        </p:txBody>
      </p:sp>
      <p:sp>
        <p:nvSpPr>
          <p:cNvPr id="24" name="step-04-body">
            <a:extLst xmlns:a="http://schemas.openxmlformats.org/drawingml/2006/main">
              <a:ext uri="{FF2B5EF4-FFF2-40B4-BE49-F238E27FC236}">
                <a16:creationId xmlns:a16="http://schemas.microsoft.com/office/drawing/2014/main" id="{CDC79DE4-EE5A-46A1-9A22-0CF9CE37C31A}"/>
              </a:ext>
            </a:extLst>
          </p:cNvPr>
          <p:cNvSpPr>
            <a:spLocks xmlns:a="http://schemas.openxmlformats.org/drawingml/2006/main" noGrp="1"/>
          </p:cNvSpPr>
          <p:nvPr/>
        </p:nvSpPr>
        <p:spPr>
          <a:xfrm xmlns:a="http://schemas.openxmlformats.org/drawingml/2006/main">
            <a:off x="1409700" y="45624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r01: đối chiếu F1 / jitter với nhãn. a02: xác nhận gate từ chối và ẩn fHR. Lưu raw ADC, log, thời gian suy luận và phiên bản firmware.</a:t>
            </a:r>
          </a:p>
        </p:txBody>
      </p:sp>
      <p:sp>
        <p:nvSpPr>
          <p:cNvPr id="25" name="acceptance-panel">
            <a:extLst xmlns:a="http://schemas.openxmlformats.org/drawingml/2006/main">
              <a:ext uri="{FF2B5EF4-FFF2-40B4-BE49-F238E27FC236}">
                <a16:creationId xmlns:a16="http://schemas.microsoft.com/office/drawing/2014/main" id="{0CFFC332-1DB8-46DF-9F39-D9E4EDD19E6E}"/>
              </a:ext>
            </a:extLst>
          </p:cNvPr>
          <p:cNvSpPr>
            <a:spLocks xmlns:a="http://schemas.openxmlformats.org/drawingml/2006/main" noGrp="1"/>
          </p:cNvSpPr>
          <p:nvPr/>
        </p:nvSpPr>
        <p:spPr>
          <a:xfrm xmlns:a="http://schemas.openxmlformats.org/drawingml/2006/main">
            <a:off x="8410575" y="1685925"/>
            <a:ext cx="3086100" cy="3667125"/>
          </a:xfrm>
          <a:prstGeom xmlns:a="http://schemas.openxmlformats.org/drawingml/2006/main" prst="roundRect">
            <a:avLst>
              <a:gd name="adj" fmla="val 3704"/>
            </a:avLst>
          </a:prstGeom>
          <a:solidFill xmlns:a="http://schemas.openxmlformats.org/drawingml/2006/main">
            <a:srgbClr val="102A33"/>
          </a:solidFill>
          <a:ln xmlns:a="http://schemas.openxmlformats.org/drawingml/2006/main" w="0">
            <a:noFill/>
            <a:prstDash val="solid"/>
          </a:ln>
        </p:spPr>
      </p:sp>
      <p:sp>
        <p:nvSpPr>
          <p:cNvPr id="26" name="acceptance-heading">
            <a:extLst xmlns:a="http://schemas.openxmlformats.org/drawingml/2006/main">
              <a:ext uri="{FF2B5EF4-FFF2-40B4-BE49-F238E27FC236}">
                <a16:creationId xmlns:a16="http://schemas.microsoft.com/office/drawing/2014/main" id="{B7E448FD-3E51-4E73-83C3-6C326551D34F}"/>
              </a:ext>
            </a:extLst>
          </p:cNvPr>
          <p:cNvSpPr>
            <a:spLocks xmlns:a="http://schemas.openxmlformats.org/drawingml/2006/main" noGrp="1"/>
          </p:cNvSpPr>
          <p:nvPr/>
        </p:nvSpPr>
        <p:spPr>
          <a:xfrm xmlns:a="http://schemas.openxmlformats.org/drawingml/2006/main">
            <a:off x="8639175" y="1895475"/>
            <a:ext cx="2609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CDEB5A"/>
                </a:solidFill>
                <a:latin typeface="Arial"/>
                <a:ea typeface="Arial"/>
                <a:cs typeface="Arial"/>
              </a:defRPr>
            </a:defPPr>
            <a:lvl1pPr algn="l">
              <a:buNone/>
              <a:defRPr sz="1050" b="1">
                <a:solidFill>
                  <a:srgbClr val="CDEB5A"/>
                </a:solidFill>
                <a:latin typeface="Arial"/>
                <a:ea typeface="Arial"/>
                <a:cs typeface="Arial"/>
              </a:defRPr>
            </a:lvl1pPr>
            <a:lvl2pPr algn="l">
              <a:buNone/>
              <a:defRPr sz="1050" b="1">
                <a:solidFill>
                  <a:srgbClr val="CDEB5A"/>
                </a:solidFill>
                <a:latin typeface="Arial"/>
                <a:ea typeface="Arial"/>
                <a:cs typeface="Arial"/>
              </a:defRPr>
            </a:lvl2pPr>
            <a:lvl3pPr algn="l">
              <a:buNone/>
              <a:defRPr sz="1050" b="1">
                <a:solidFill>
                  <a:srgbClr val="CDEB5A"/>
                </a:solidFill>
                <a:latin typeface="Arial"/>
                <a:ea typeface="Arial"/>
                <a:cs typeface="Arial"/>
              </a:defRPr>
            </a:lvl3pPr>
            <a:lvl4pPr algn="l">
              <a:buNone/>
              <a:defRPr sz="1050" b="1">
                <a:solidFill>
                  <a:srgbClr val="CDEB5A"/>
                </a:solidFill>
                <a:latin typeface="Arial"/>
                <a:ea typeface="Arial"/>
                <a:cs typeface="Arial"/>
              </a:defRPr>
            </a:lvl4pPr>
            <a:lvl5pPr algn="l">
              <a:buNone/>
              <a:defRPr sz="1050" b="1">
                <a:solidFill>
                  <a:srgbClr val="CDEB5A"/>
                </a:solidFill>
                <a:latin typeface="Arial"/>
                <a:ea typeface="Arial"/>
                <a:cs typeface="Arial"/>
              </a:defRPr>
            </a:lvl5pPr>
            <a:lvl6pPr algn="l">
              <a:buNone/>
              <a:defRPr sz="1050" b="1">
                <a:solidFill>
                  <a:srgbClr val="CDEB5A"/>
                </a:solidFill>
                <a:latin typeface="Arial"/>
                <a:ea typeface="Arial"/>
                <a:cs typeface="Arial"/>
              </a:defRPr>
            </a:lvl6pPr>
            <a:lvl7pPr algn="l">
              <a:buNone/>
              <a:defRPr sz="1050" b="1">
                <a:solidFill>
                  <a:srgbClr val="CDEB5A"/>
                </a:solidFill>
                <a:latin typeface="Arial"/>
                <a:ea typeface="Arial"/>
                <a:cs typeface="Arial"/>
              </a:defRPr>
            </a:lvl7pPr>
            <a:lvl8pPr algn="l">
              <a:buNone/>
              <a:defRPr sz="1050" b="1">
                <a:solidFill>
                  <a:srgbClr val="CDEB5A"/>
                </a:solidFill>
                <a:latin typeface="Arial"/>
                <a:ea typeface="Arial"/>
                <a:cs typeface="Arial"/>
              </a:defRPr>
            </a:lvl8pPr>
            <a:lvl9pPr algn="l">
              <a:buNone/>
              <a:defRPr sz="1050" b="1">
                <a:solidFill>
                  <a:srgbClr val="CDEB5A"/>
                </a:solidFill>
                <a:latin typeface="Arial"/>
                <a:ea typeface="Arial"/>
                <a:cs typeface="Arial"/>
              </a:defRPr>
            </a:lvl9pPr>
          </a:lstStyle>
          <a:p xmlns:a="http://schemas.openxmlformats.org/drawingml/2006/main">
            <a:pPr algn="l">
              <a:buNone/>
              <a:defRPr sz="1050" b="1">
                <a:solidFill>
                  <a:srgbClr val="CDEB5A"/>
                </a:solidFill>
                <a:latin typeface="Arial"/>
                <a:ea typeface="Arial"/>
                <a:cs typeface="Arial"/>
              </a:defRPr>
            </a:pPr>
            <a:r>
              <a:rPr sz="1050" b="1">
                <a:solidFill>
                  <a:srgbClr val="CDEB5A"/>
                </a:solidFill>
                <a:latin typeface="Arial"/>
                <a:ea typeface="Arial"/>
                <a:cs typeface="Arial"/>
              </a:rPr>
              <a:t>TIÊU CHÍ HIL</a:t>
            </a:r>
          </a:p>
        </p:txBody>
      </p:sp>
      <p:sp>
        <p:nvSpPr>
          <p:cNvPr id="27" name="acceptance-point-1">
            <a:extLst xmlns:a="http://schemas.openxmlformats.org/drawingml/2006/main">
              <a:ext uri="{FF2B5EF4-FFF2-40B4-BE49-F238E27FC236}">
                <a16:creationId xmlns:a16="http://schemas.microsoft.com/office/drawing/2014/main" id="{881BEABB-F7AE-41BE-8C4D-1C8EA847DB0A}"/>
              </a:ext>
            </a:extLst>
          </p:cNvPr>
          <p:cNvSpPr>
            <a:spLocks xmlns:a="http://schemas.openxmlformats.org/drawingml/2006/main" noGrp="1"/>
          </p:cNvSpPr>
          <p:nvPr/>
        </p:nvSpPr>
        <p:spPr>
          <a:xfrm xmlns:a="http://schemas.openxmlformats.org/drawingml/2006/main">
            <a:off x="8639175" y="2333625"/>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7F8F3"/>
                </a:solidFill>
                <a:latin typeface="Arial"/>
                <a:ea typeface="Arial"/>
                <a:cs typeface="Arial"/>
              </a:defRPr>
            </a:defPPr>
            <a:lvl1pPr algn="l">
              <a:buNone/>
              <a:defRPr sz="1200" b="1">
                <a:solidFill>
                  <a:srgbClr val="F7F8F3"/>
                </a:solidFill>
                <a:latin typeface="Arial"/>
                <a:ea typeface="Arial"/>
                <a:cs typeface="Arial"/>
              </a:defRPr>
            </a:lvl1pPr>
            <a:lvl2pPr algn="l">
              <a:buNone/>
              <a:defRPr sz="1200" b="1">
                <a:solidFill>
                  <a:srgbClr val="F7F8F3"/>
                </a:solidFill>
                <a:latin typeface="Arial"/>
                <a:ea typeface="Arial"/>
                <a:cs typeface="Arial"/>
              </a:defRPr>
            </a:lvl2pPr>
            <a:lvl3pPr algn="l">
              <a:buNone/>
              <a:defRPr sz="1200" b="1">
                <a:solidFill>
                  <a:srgbClr val="F7F8F3"/>
                </a:solidFill>
                <a:latin typeface="Arial"/>
                <a:ea typeface="Arial"/>
                <a:cs typeface="Arial"/>
              </a:defRPr>
            </a:lvl3pPr>
            <a:lvl4pPr algn="l">
              <a:buNone/>
              <a:defRPr sz="1200" b="1">
                <a:solidFill>
                  <a:srgbClr val="F7F8F3"/>
                </a:solidFill>
                <a:latin typeface="Arial"/>
                <a:ea typeface="Arial"/>
                <a:cs typeface="Arial"/>
              </a:defRPr>
            </a:lvl4pPr>
            <a:lvl5pPr algn="l">
              <a:buNone/>
              <a:defRPr sz="1200" b="1">
                <a:solidFill>
                  <a:srgbClr val="F7F8F3"/>
                </a:solidFill>
                <a:latin typeface="Arial"/>
                <a:ea typeface="Arial"/>
                <a:cs typeface="Arial"/>
              </a:defRPr>
            </a:lvl5pPr>
            <a:lvl6pPr algn="l">
              <a:buNone/>
              <a:defRPr sz="1200" b="1">
                <a:solidFill>
                  <a:srgbClr val="F7F8F3"/>
                </a:solidFill>
                <a:latin typeface="Arial"/>
                <a:ea typeface="Arial"/>
                <a:cs typeface="Arial"/>
              </a:defRPr>
            </a:lvl6pPr>
            <a:lvl7pPr algn="l">
              <a:buNone/>
              <a:defRPr sz="1200" b="1">
                <a:solidFill>
                  <a:srgbClr val="F7F8F3"/>
                </a:solidFill>
                <a:latin typeface="Arial"/>
                <a:ea typeface="Arial"/>
                <a:cs typeface="Arial"/>
              </a:defRPr>
            </a:lvl7pPr>
            <a:lvl8pPr algn="l">
              <a:buNone/>
              <a:defRPr sz="1200" b="1">
                <a:solidFill>
                  <a:srgbClr val="F7F8F3"/>
                </a:solidFill>
                <a:latin typeface="Arial"/>
                <a:ea typeface="Arial"/>
                <a:cs typeface="Arial"/>
              </a:defRPr>
            </a:lvl8pPr>
            <a:lvl9pPr algn="l">
              <a:buNone/>
              <a:defRPr sz="1200" b="1">
                <a:solidFill>
                  <a:srgbClr val="F7F8F3"/>
                </a:solidFill>
                <a:latin typeface="Arial"/>
                <a:ea typeface="Arial"/>
                <a:cs typeface="Arial"/>
              </a:defRPr>
            </a:lvl9pPr>
          </a:lstStyle>
          <a:p xmlns:a="http://schemas.openxmlformats.org/drawingml/2006/main">
            <a:pPr algn="l">
              <a:buNone/>
              <a:defRPr sz="1200" b="1">
                <a:solidFill>
                  <a:srgbClr val="F7F8F3"/>
                </a:solidFill>
                <a:latin typeface="Arial"/>
                <a:ea typeface="Arial"/>
                <a:cs typeface="Arial"/>
              </a:defRPr>
            </a:pPr>
            <a:r>
              <a:rPr sz="1200" b="1">
                <a:solidFill>
                  <a:srgbClr val="F7F8F3"/>
                </a:solidFill>
                <a:latin typeface="Arial"/>
                <a:ea typeface="Arial"/>
                <a:cs typeface="Arial"/>
              </a:rPr>
              <a:t>01 / 1 kHz ổn định</a:t>
            </a:r>
          </a:p>
          <a:p xmlns:a="http://schemas.openxmlformats.org/drawingml/2006/main">
            <a:pPr algn="l">
              <a:buNone/>
              <a:defRPr sz="1200" b="1">
                <a:solidFill>
                  <a:srgbClr val="F7F8F3"/>
                </a:solidFill>
                <a:latin typeface="Arial"/>
                <a:ea typeface="Arial"/>
                <a:cs typeface="Arial"/>
              </a:defRPr>
            </a:pPr>
            <a:r>
              <a:rPr sz="1200" b="1">
                <a:solidFill>
                  <a:srgbClr val="F7F8F3"/>
                </a:solidFill>
                <a:latin typeface="Arial"/>
                <a:ea typeface="Arial"/>
                <a:cs typeface="Arial"/>
              </a:rPr>
              <a:t>Không mất mẫu; jitter được ghi lại.</a:t>
            </a:r>
          </a:p>
        </p:txBody>
      </p:sp>
      <p:sp>
        <p:nvSpPr>
          <p:cNvPr id="28" name="acceptance-rule-1">
            <a:extLst xmlns:a="http://schemas.openxmlformats.org/drawingml/2006/main">
              <a:ext uri="{FF2B5EF4-FFF2-40B4-BE49-F238E27FC236}">
                <a16:creationId xmlns:a16="http://schemas.microsoft.com/office/drawing/2014/main" id="{AF62950E-3E7D-447F-8978-9C163E64688F}"/>
              </a:ext>
            </a:extLst>
          </p:cNvPr>
          <p:cNvSpPr>
            <a:spLocks xmlns:a="http://schemas.openxmlformats.org/drawingml/2006/main" noGrp="1"/>
          </p:cNvSpPr>
          <p:nvPr/>
        </p:nvSpPr>
        <p:spPr>
          <a:xfrm xmlns:a="http://schemas.openxmlformats.org/drawingml/2006/main">
            <a:off x="8639175" y="305752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29" name="acceptance-point-2">
            <a:extLst xmlns:a="http://schemas.openxmlformats.org/drawingml/2006/main">
              <a:ext uri="{FF2B5EF4-FFF2-40B4-BE49-F238E27FC236}">
                <a16:creationId xmlns:a16="http://schemas.microsoft.com/office/drawing/2014/main" id="{A005875F-A54B-44F3-BC5F-4194EC3E03C6}"/>
              </a:ext>
            </a:extLst>
          </p:cNvPr>
          <p:cNvSpPr>
            <a:spLocks xmlns:a="http://schemas.openxmlformats.org/drawingml/2006/main" noGrp="1"/>
          </p:cNvSpPr>
          <p:nvPr/>
        </p:nvSpPr>
        <p:spPr>
          <a:xfrm xmlns:a="http://schemas.openxmlformats.org/drawingml/2006/main">
            <a:off x="8639175" y="3219450"/>
            <a:ext cx="257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F7F8F3"/>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02 / Tín hiệu không clipping</a:t>
            </a:r>
          </a:p>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ADC còn biên độ; dữ liệu thu khớp dạng phát.</a:t>
            </a:r>
          </a:p>
        </p:txBody>
      </p:sp>
      <p:sp>
        <p:nvSpPr>
          <p:cNvPr id="30" name="acceptance-rule-2">
            <a:extLst xmlns:a="http://schemas.openxmlformats.org/drawingml/2006/main">
              <a:ext uri="{FF2B5EF4-FFF2-40B4-BE49-F238E27FC236}">
                <a16:creationId xmlns:a16="http://schemas.microsoft.com/office/drawing/2014/main" id="{DB6A442D-8184-476B-A525-9913A6E9C7B8}"/>
              </a:ext>
            </a:extLst>
          </p:cNvPr>
          <p:cNvSpPr>
            <a:spLocks xmlns:a="http://schemas.openxmlformats.org/drawingml/2006/main" noGrp="1"/>
          </p:cNvSpPr>
          <p:nvPr/>
        </p:nvSpPr>
        <p:spPr>
          <a:xfrm xmlns:a="http://schemas.openxmlformats.org/drawingml/2006/main">
            <a:off x="8639175" y="402907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31" name="acceptance-point-3">
            <a:extLst xmlns:a="http://schemas.openxmlformats.org/drawingml/2006/main">
              <a:ext uri="{FF2B5EF4-FFF2-40B4-BE49-F238E27FC236}">
                <a16:creationId xmlns:a16="http://schemas.microsoft.com/office/drawing/2014/main" id="{085D955E-0B60-438E-8682-EC5044F8D053}"/>
              </a:ext>
            </a:extLst>
          </p:cNvPr>
          <p:cNvSpPr>
            <a:spLocks xmlns:a="http://schemas.openxmlformats.org/drawingml/2006/main" noGrp="1"/>
          </p:cNvSpPr>
          <p:nvPr/>
        </p:nvSpPr>
        <p:spPr>
          <a:xfrm xmlns:a="http://schemas.openxmlformats.org/drawingml/2006/main">
            <a:off x="8639175" y="4191000"/>
            <a:ext cx="2571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F7F8F3"/>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03 / AI mới được xác nhận</a:t>
            </a:r>
          </a:p>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TCN thật chạy; kết quả khớp offline theo dung sai đã định.</a:t>
            </a:r>
          </a:p>
        </p:txBody>
      </p:sp>
      <p:sp>
        <p:nvSpPr>
          <p:cNvPr id="32" name="status-bar">
            <a:extLst xmlns:a="http://schemas.openxmlformats.org/drawingml/2006/main">
              <a:ext uri="{FF2B5EF4-FFF2-40B4-BE49-F238E27FC236}">
                <a16:creationId xmlns:a16="http://schemas.microsoft.com/office/drawing/2014/main" id="{399B404F-5EFC-41F2-AA1D-91E49B3E7F9B}"/>
              </a:ext>
            </a:extLst>
          </p:cNvPr>
          <p:cNvSpPr>
            <a:spLocks xmlns:a="http://schemas.openxmlformats.org/drawingml/2006/main" noGrp="1"/>
          </p:cNvSpPr>
          <p:nvPr/>
        </p:nvSpPr>
        <p:spPr>
          <a:xfrm xmlns:a="http://schemas.openxmlformats.org/drawingml/2006/main">
            <a:off x="628650" y="5591175"/>
            <a:ext cx="10868025" cy="476250"/>
          </a:xfrm>
          <a:prstGeom xmlns:a="http://schemas.openxmlformats.org/drawingml/2006/main" prst="roundRect">
            <a:avLst>
              <a:gd name="adj" fmla="val 16000"/>
            </a:avLst>
          </a:prstGeom>
          <a:solidFill xmlns:a="http://schemas.openxmlformats.org/drawingml/2006/main">
            <a:srgbClr val="D9ECE7"/>
          </a:solidFill>
          <a:ln xmlns:a="http://schemas.openxmlformats.org/drawingml/2006/main" w="0">
            <a:noFill/>
            <a:prstDash val="solid"/>
          </a:ln>
        </p:spPr>
      </p:sp>
      <p:sp>
        <p:nvSpPr>
          <p:cNvPr id="33" name="status-copy">
            <a:extLst xmlns:a="http://schemas.openxmlformats.org/drawingml/2006/main">
              <a:ext uri="{FF2B5EF4-FFF2-40B4-BE49-F238E27FC236}">
                <a16:creationId xmlns:a16="http://schemas.microsoft.com/office/drawing/2014/main" id="{6A89FFC2-17C8-4483-960C-05431E5DEB56}"/>
              </a:ext>
            </a:extLst>
          </p:cNvPr>
          <p:cNvSpPr>
            <a:spLocks xmlns:a="http://schemas.openxmlformats.org/drawingml/2006/main" noGrp="1"/>
          </p:cNvSpPr>
          <p:nvPr/>
        </p:nvSpPr>
        <p:spPr>
          <a:xfrm xmlns:a="http://schemas.openxmlformats.org/drawingml/2006/main">
            <a:off x="800100" y="56959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1232B"/>
                </a:solidFill>
                <a:latin typeface="Arial"/>
                <a:ea typeface="Arial"/>
                <a:cs typeface="Arial"/>
              </a:defRPr>
            </a:defPPr>
            <a:lvl1pPr algn="l">
              <a:buNone/>
              <a:defRPr sz="1200" b="1">
                <a:solidFill>
                  <a:srgbClr val="11232B"/>
                </a:solidFill>
                <a:latin typeface="Arial"/>
                <a:ea typeface="Arial"/>
                <a:cs typeface="Arial"/>
              </a:defRPr>
            </a:lvl1pPr>
            <a:lvl2pPr algn="l">
              <a:buNone/>
              <a:defRPr sz="1200" b="1">
                <a:solidFill>
                  <a:srgbClr val="11232B"/>
                </a:solidFill>
                <a:latin typeface="Arial"/>
                <a:ea typeface="Arial"/>
                <a:cs typeface="Arial"/>
              </a:defRPr>
            </a:lvl2pPr>
            <a:lvl3pPr algn="l">
              <a:buNone/>
              <a:defRPr sz="1200" b="1">
                <a:solidFill>
                  <a:srgbClr val="11232B"/>
                </a:solidFill>
                <a:latin typeface="Arial"/>
                <a:ea typeface="Arial"/>
                <a:cs typeface="Arial"/>
              </a:defRPr>
            </a:lvl3pPr>
            <a:lvl4pPr algn="l">
              <a:buNone/>
              <a:defRPr sz="1200" b="1">
                <a:solidFill>
                  <a:srgbClr val="11232B"/>
                </a:solidFill>
                <a:latin typeface="Arial"/>
                <a:ea typeface="Arial"/>
                <a:cs typeface="Arial"/>
              </a:defRPr>
            </a:lvl4pPr>
            <a:lvl5pPr algn="l">
              <a:buNone/>
              <a:defRPr sz="1200" b="1">
                <a:solidFill>
                  <a:srgbClr val="11232B"/>
                </a:solidFill>
                <a:latin typeface="Arial"/>
                <a:ea typeface="Arial"/>
                <a:cs typeface="Arial"/>
              </a:defRPr>
            </a:lvl5pPr>
            <a:lvl6pPr algn="l">
              <a:buNone/>
              <a:defRPr sz="1200" b="1">
                <a:solidFill>
                  <a:srgbClr val="11232B"/>
                </a:solidFill>
                <a:latin typeface="Arial"/>
                <a:ea typeface="Arial"/>
                <a:cs typeface="Arial"/>
              </a:defRPr>
            </a:lvl6pPr>
            <a:lvl7pPr algn="l">
              <a:buNone/>
              <a:defRPr sz="1200" b="1">
                <a:solidFill>
                  <a:srgbClr val="11232B"/>
                </a:solidFill>
                <a:latin typeface="Arial"/>
                <a:ea typeface="Arial"/>
                <a:cs typeface="Arial"/>
              </a:defRPr>
            </a:lvl7pPr>
            <a:lvl8pPr algn="l">
              <a:buNone/>
              <a:defRPr sz="1200" b="1">
                <a:solidFill>
                  <a:srgbClr val="11232B"/>
                </a:solidFill>
                <a:latin typeface="Arial"/>
                <a:ea typeface="Arial"/>
                <a:cs typeface="Arial"/>
              </a:defRPr>
            </a:lvl8pPr>
            <a:lvl9pPr algn="l">
              <a:buNone/>
              <a:defRPr sz="1200" b="1">
                <a:solidFill>
                  <a:srgbClr val="11232B"/>
                </a:solidFill>
                <a:latin typeface="Arial"/>
                <a:ea typeface="Arial"/>
                <a:cs typeface="Arial"/>
              </a:defRPr>
            </a:lvl9pPr>
          </a:lstStyle>
          <a:p xmlns:a="http://schemas.openxmlformats.org/drawingml/2006/main">
            <a:pPr algn="l">
              <a:buNone/>
              <a:defRPr sz="1200" b="1">
                <a:solidFill>
                  <a:srgbClr val="11232B"/>
                </a:solidFill>
                <a:latin typeface="Arial"/>
                <a:ea typeface="Arial"/>
                <a:cs typeface="Arial"/>
              </a:defRPr>
            </a:pPr>
            <a:r>
              <a:rPr sz="1200" b="1">
                <a:solidFill>
                  <a:srgbClr val="11232B"/>
                </a:solidFill>
                <a:latin typeface="Arial"/>
                <a:ea typeface="Arial"/>
                <a:cs typeface="Arial"/>
              </a:rPr>
              <a:t>TRẠNG THÁI TÀI LIỆU HIỆN TẠI: 250 Hz playback + firmware thu demo; chưa chứng minh TCN inference trên bo.</a:t>
            </a:r>
          </a:p>
        </p:txBody>
      </p:sp>
    </p:spTree>
    <p:extLst>
      <p:ext uri="{BB962C8B-B14F-4D97-AF65-F5344CB8AC3E}">
        <p14:creationId xmlns:p14="http://schemas.microsoft.com/office/powerpoint/2010/main" val="98437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2026-10-18T03:21:31.4760000Z</dcterms:created>
  <dcterms:modified xsi:type="dcterms:W3CDTF">2026-10-18T03:21:31.4760000Z</dcterms:modified>
</coreProperties>
</file>