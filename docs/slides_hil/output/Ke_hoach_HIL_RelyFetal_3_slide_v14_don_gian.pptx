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2"/>
    <p:restoredTop sz="94681"/>
  </p:normalViewPr>
  <p:slideViewPr>
    <p:cSldViewPr snapToGrid="0">
      <p:cViewPr varScale="1">
        <p:scale>
          <a:sx n="111" d="100"/>
          <a:sy n="111" d="100"/>
        </p:scale>
        <p:origin x="10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RF-HIL-001 Rev B. Module-interface schematic only, not a PCB production release.</a:t>
            </a:r>
          </a:p>
          <a:p>
            <a:r>
              <a:t>Drawing conventions informed by IEC 61082-1:2014 public scope and IEC 60617. No clause-by-clause conformance certification.</a:t>
            </a:r>
          </a:p>
          <a:p>
            <a:r>
              <a:t>https://webstore.iec.ch/en/publication/4469</a:t>
            </a:r>
          </a:p>
          <a:p>
            <a:r>
              <a:t>https://tc3.iec.ch/tc-activity/graphical-symbols-for-diagrams/</a:t>
            </a:r>
          </a:p>
          <a:p>
            <a:r>
              <a:t>GPIO25 DAC: https://docs.espressif.com/projects/esp-idf/en/latest/esp32/api-reference/peripherals/dac.html</a:t>
            </a:r>
          </a:p>
          <a:p>
            <a:r>
              <a:t>GPIO1 ADC1_CH0 and 100 nF: https://docs.espressif.com/projects/esp-hardware-design-guidelines/en/latest/esp32s3/schematic-checklist.html</a:t>
            </a:r>
          </a:p>
          <a:p>
            <a:r>
              <a:t>ADC accuracy guidance states 0..2900 mV at highest attenuation; Arduino measurable range is broader (0..3100 mV). This drawing targets the narrower range.</a:t>
            </a:r>
          </a:p>
          <a:p>
            <a:r>
              <a:t>I2C: https://www.nxp.com/docs/en/user-guide/UM10204.pdf and https://www.ti.com/lit/an/slva689/slva689.pdf</a:t>
            </a:r>
          </a:p>
          <a:p>
            <a:r>
              <a:t>A2 intended purchase is TMe ESP32-S3 Dev (https://www.tme.vn/Products.aspx?CateId=457), not Espressif DevKitC-1. TMe individual product/PDF could not be re-fetched. Verify actual board revision and silk labels before assembly.</a:t>
            </a:r>
          </a:p>
          <a:p>
            <a:r>
              <a:t>OLED pin order and installed pull-ups are not frozen. R3/R4 are optional 4k7 to 3V3_A2. DNP when existing module pull-ups meet the effective resistance and rise-time acceptance conditions. C2 local decoupling is added.</a:t>
            </a:r>
          </a:p>
          <a:p>
            <a:r>
              <a:t>R2 changed 56k to 39k. For ideal DAC output bounded by 3.3 V +5% and resistor tolerances +/-5%, worst ADC_IN is below 2.85 V. Actual DAC source impedance and S3 ADC transfer curve are not modeled.</a:t>
            </a:r>
          </a:p>
          <a:p>
            <a:r>
              <a:t>R1/R2 budget and module prices remain previous estimates. New 39k procurement and optional 4k7 require quotation. Hardware fit and production approval are not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Danh sách đã đồng bộ với sơ đồ slide 1: R1=10 kΩ, R2=56 kΩ, C1=100 nF; cầu chia áp đưa tối đa 3,3 V xuống khoảng 2,8 V. N8R8 official board has 8 MB flash + 8 MB PSRAM https://docs.espressif.com/projects/esp-dev-kits/en/latest/esp32s3/esp32-s3-devkitc-1/user_guide_v1.1.html ; GPIO1 is ADC1_CH0 and ADC 12 dB nominal range is about 0–3.1 V https://docs.espressif.com/projects/esp-idf/en/latest/esp32s3/api-reference/peripherals/adc.html . Clone-board pin mapping can vary; verify silkscreen/module before ordering.</a:t>
            </a:r>
          </a:p>
          <a:p>
            <a:endParaRPr/>
          </a:p>
          <a:p>
            <a:endParaRPr/>
          </a:p>
          <a:p>
            <a:r>
              <a:t>KIỂM THỬ MÔ PHỎNG (18/10/2026)</a:t>
            </a:r>
          </a:p>
          <a:p>
            <a:r>
              <a:t>Chạy python3 analysis/hardware_simulator/simulate_hil_rc.py. Mô hình dùng ECG_RECORD_R01/A02 (2.500 mẫu/ca ở 250 Hz), DAC 0–3,3 V lý tưởng, R1=10 kΩ, R2=56 kΩ, C1=100 nF, 12-bit ADC lý tưởng và lệch pha nguồn/thu 0,1–3,9 ms. Kết quả: gain=0,8485; tau=0,848 ms; fc=187,6 Hz; VADC peak danh định 2,800 V, góc R±5% cao nhất 2,841 V. Ở pha 0,1 ms, tương quan dạng sóng với DAC lý tưởng là 0,876 (r01) và 0,754 (a02); khi pha 3,9 ms gần 1. Suy ra điện áp không vượt 3,0 V mục tiêu trong mô hình, nhưng firmware lấy mẫu tự do 250 Hz không đồng bộ, nên kết quả dạng sóng phụ thuộc pha. ADC mean lý tưởng ca a02 ≈2.094 mã, dưới ngưỡng 2.150 của gate hiện tại; gate demo có thể không từ chối ca a02. Đây là mô phỏng tín hiệu và kiểm tra mã, chưa thay thế đo oscilloscope/ADC thật. Firmware hiện tại cũng chưa nạp/chạy TCN thật.</a:t>
            </a:r>
          </a:p>
          <a:p>
            <a:endParaRPr/>
          </a:p>
          <a:p>
            <a:r>
              <a:t>GIÁ TRA CỨU (VNĐ, chưa gồm vận chuyển; giá/biến thể có thể đổi)</a:t>
            </a:r>
          </a:p>
          <a:p>
            <a:r>
              <a:t>J1 Shopee, ESP32 DevKit V1 ESP-WROOM-32, 109.000: https://shopee.vn/ESP32-DevKit-V1-ESP32-WROOM-32-WiFi-Bluetooth-Development-Board-%E2%80%93-Kit-Ph%C3%A1t-Tri%E1%BB%83n-IoT-Ch%C3%ADnh-H%C3%A3ng-i.65776741.42482058047</a:t>
            </a:r>
          </a:p>
          <a:p>
            <a:r>
              <a:t>J2 TMe, ESP32-S3 Dev dựa ESP32-S3-WROOM-1 N8R8, mã trang 2504, 250.000: https://tme.vn/Product.aspx?id=2504</a:t>
            </a:r>
          </a:p>
          <a:p>
            <a:r>
              <a:t>J3 Shopee PCBLab, SSD1306 0.96in 128x64 4-pin, 60.086: https://shopee.vn/M%C3%A0n-h%C3%ACnh-OLED-0.96-inch-I2C-SSD1306-128x64-giao-ti%E1%BA%BFp-I2C-4-ch%C3%A2n-VCC-GND-SCL-SDA-d%C3%B9ng-cho-Arduino-ESP32-STM32-i.1723076079.51514172829</a:t>
            </a:r>
          </a:p>
          <a:p>
            <a:r>
              <a:t>R1 10 kΩ and R2 56 kΩ, carbon film through-hole 1/4 W 5%, Thegioiic 55 each, MOQ 50 each; R2 seller code IC929: https://www.thegioiic.com/dien-tro-56-kohm-1-4w-5-4-vong-mau ; 10 kΩ listing: https://www.thegioiic.com/dien-tro-10-kohm-1-4w-5-4-vong-mau</a:t>
            </a:r>
          </a:p>
          <a:p>
            <a:r>
              <a:t>C1 ceramic 104 100 nF 50 V, Shopee 10 pcs 6.000: https://shopee.vn/T%E1%BB%A5-g%E1%BB%91m-104-100nF-50V-Ceramic-%2810pcs%29-i.29186330.43423148258</a:t>
            </a:r>
          </a:p>
          <a:p>
            <a:r>
              <a:t>Breadboard MB-102 830 tie points, 32.000: https://shopee.vn/Breadboard-MB-102-830-l%E1%BB%97-Nh%E1%BB%B1a-ABS-ch%E1%BA%A5t-l%C6%B0%E1%BB%A3ng-cao-i.120349161.5216095760 ; Dupont 40P, 21 cm, 31.900–39.900: https://shopee.vn/-B%E1%BB%99-S%E1%BB%A3i-D%C3%A2y-N%E1%BB%91i-40P-D%C3%A0i-21Cm-%28-2-%C4%90%E1%BA%A7u-%C4%90%E1%BB%B1c-C%C3%A1i-%29-D%C3%A2y-C%E1%BA%AFm-Test-M%E1%BA%A1ch--i.61435118.25088627856</a:t>
            </a:r>
          </a:p>
          <a:p>
            <a:r>
              <a:t>USB Micro-B data cable 1 m, Shopee 47.880: https://shopee.vn/C%C3%A1p-d%E1%BB%AF-li%E1%BB%87u-s%E1%BA%A1c-nhanh-USB-Micro-USB-1m-i.376801883.28332691601 ; USB-A to USB-C data cable 1 m, USAMS Shopee 79.420: https://shopee.vn/Usams-D%C3%A2y-C%C3%A1p-S%E1%BA%A1c-Nhanh-Truy%E1%BB%81n-D%E1%BB%AF-Li%E1%BB%87u-%C4%90%E1%BA%A7u-USB-Type-C-D%C3%A0i-1M-D%C3%A0nh-Cho-%C4%90i%E1%BB%87n-Tho%E1%BA%A1i-i.408923716.22343546073</a:t>
            </a:r>
          </a:p>
          <a:p>
            <a:r>
              <a:t>ESP32 DAC GPIO25 official source: https://docs.espressif.com/projects/esp-idf/en/latest/esp32/api-reference/peripherals/dac.html ; ESP32-S3 GPIO1 ADC1_CH0 and calibration caution: https://docs.espressif.com/projects/esp-hardware-design-guidelines/en/latest/esp32s3/schematic-checklist.html ; N8R8 ordering code and board USB supply options: https://documentation.espressif.com/esp-dev-kits/en/latest/esp32s3/esp32-s3-devkitc-1/user_guide_v1.1.html</a:t>
            </a:r>
          </a:p>
          <a:p>
            <a:r>
              <a:t>*Total is approximately 622.000 VND including minimum resistor packs; excludes shipping and marketplace promotions.</a:t>
            </a:r>
          </a:p>
          <a:p>
            <a:r>
              <a:t>REV B UPDATE:</a:t>
            </a:r>
          </a:p>
          <a:p>
            <a:r>
              <a:t>RF-HIL-001 Rev B. Module-interface schematic only, not a PCB production release.</a:t>
            </a:r>
          </a:p>
          <a:p>
            <a:r>
              <a:t>Drawing conventions informed by IEC 61082-1:2014 public scope and IEC 60617. No clause-by-clause conformance certification.</a:t>
            </a:r>
          </a:p>
          <a:p>
            <a:r>
              <a:t>https://webstore.iec.ch/en/publication/4469</a:t>
            </a:r>
          </a:p>
          <a:p>
            <a:r>
              <a:t>https://tc3.iec.ch/tc-activity/graphical-symbols-for-diagrams/</a:t>
            </a:r>
          </a:p>
          <a:p>
            <a:r>
              <a:t>GPIO25 DAC: https://docs.espressif.com/projects/esp-idf/en/latest/esp32/api-reference/peripherals/dac.html</a:t>
            </a:r>
          </a:p>
          <a:p>
            <a:r>
              <a:t>GPIO1 ADC1_CH0 and 100 nF: https://docs.espressif.com/projects/esp-hardware-design-guidelines/en/latest/esp32s3/schematic-checklist.html</a:t>
            </a:r>
          </a:p>
          <a:p>
            <a:r>
              <a:t>ADC accuracy guidance states 0..2900 mV at highest attenuation; Arduino measurable range is broader (0..3100 mV). This drawing targets the narrower range.</a:t>
            </a:r>
          </a:p>
          <a:p>
            <a:r>
              <a:t>I2C: https://www.nxp.com/docs/en/user-guide/UM10204.pdf and https://www.ti.com/lit/an/slva689/slva689.pdf</a:t>
            </a:r>
          </a:p>
          <a:p>
            <a:r>
              <a:t>A2 intended purchase is TMe ESP32-S3 Dev (https://www.tme.vn/Products.aspx?CateId=457), not Espressif DevKitC-1. TMe individual product/PDF could not be re-fetched. Verify actual board revision and silk labels before assembly.</a:t>
            </a:r>
          </a:p>
          <a:p>
            <a:r>
              <a:t>OLED pin order and installed pull-ups are not frozen. R3/R4 are optional 4k7 to 3V3_A2. DNP when existing module pull-ups meet the effective resistance and rise-time acceptance conditions. C2 local decoupling is added.</a:t>
            </a:r>
          </a:p>
          <a:p>
            <a:r>
              <a:t>R2 changed 56k to 39k. For ideal DAC output bounded by 3.3 V +5% and resistor tolerances +/-5%, worst ADC_IN is below 2.85 V. Actual DAC source impedance and S3 ADC transfer curve are not modeled.</a:t>
            </a:r>
          </a:p>
          <a:p>
            <a:r>
              <a:t>R1/R2 budget and module prices remain previous estimates. New 39k procurement and optional 4k7 require quotation. Hardware fit and production approval are not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8D17AF7-5747-4B58-9C4B-AEBF2F4F4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9C421D9-42B1-4A5A-8F97-A47FD6C9B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7DE1114-DA95-4F38-B42D-9CEC0376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8F4B9BC-8E38-46B8-B078-03FA44A8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D845838-2289-4A03-B80E-A2CEE791C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E84CF21-25A6-4FC9-B47B-7F308177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3E074DC-30EB-4646-B7C9-2588674B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0A0CE03-AB36-4932-8556-AE82B8BF21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3F33C01-E35B-48FB-9866-07EEB444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9B699E3-90FD-4BC3-BFB7-00CA23F89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1-title">
            <a:extLst>
              <a:ext uri="{FF2B5EF4-FFF2-40B4-BE49-F238E27FC236}">
                <a16:creationId xmlns:a16="http://schemas.microsoft.com/office/drawing/2014/main" id="{56DD0CE9-7284-4D17-BE8B-D75C7B54369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150" b="1">
                <a:solidFill>
                  <a:srgbClr val="122F3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300" b="1">
                <a:solidFill>
                  <a:srgbClr val="122F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F38"/>
                </a:solidFill>
                <a:latin typeface="Arial"/>
                <a:ea typeface="Arial"/>
                <a:cs typeface="Arial"/>
              </a:rPr>
              <a:t>Sơ đồ kết nối HIL</a:t>
            </a:r>
          </a:p>
        </p:txBody>
      </p:sp>
      <p:sp>
        <p:nvSpPr>
          <p:cNvPr id="2" name="slide-1-strap">
            <a:extLst>
              <a:ext uri="{FF2B5EF4-FFF2-40B4-BE49-F238E27FC236}">
                <a16:creationId xmlns:a16="http://schemas.microsoft.com/office/drawing/2014/main" id="{A5EA16DB-4643-41A2-9C0D-A03D24E4A068}"/>
              </a:ext>
            </a:extLst>
          </p:cNvPr>
          <p:cNvSpPr>
            <a:spLocks noGrp="1"/>
          </p:cNvSpPr>
          <p:nvPr/>
        </p:nvSpPr>
        <p:spPr>
          <a:xfrm>
            <a:off x="628650" y="92392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75" b="0">
                <a:solidFill>
                  <a:srgbClr val="5A7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A7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7076"/>
                </a:solidFill>
                <a:latin typeface="Arial"/>
                <a:ea typeface="Arial"/>
                <a:cs typeface="Arial"/>
              </a:rPr>
              <a:t>A1–A3 là tên các bo. Nối theo tên chân ghi trên bo.</a:t>
            </a:r>
          </a:p>
        </p:txBody>
      </p:sp>
      <p:sp>
        <p:nvSpPr>
          <p:cNvPr id="3" name="slide-1-header-rule">
            <a:extLst>
              <a:ext uri="{FF2B5EF4-FFF2-40B4-BE49-F238E27FC236}">
                <a16:creationId xmlns:a16="http://schemas.microsoft.com/office/drawing/2014/main" id="{3B864213-296F-4FFB-8AC3-5BAB9DA6D264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9525"/>
          </a:xfrm>
          <a:prstGeom prst="line">
            <a:avLst/>
          </a:prstGeom>
          <a:noFill/>
          <a:ln w="9525">
            <a:solidFill>
              <a:srgbClr val="DCE6E1"/>
            </a:solidFill>
            <a:prstDash val="solid"/>
          </a:ln>
        </p:spPr>
      </p:sp>
      <p:sp>
        <p:nvSpPr>
          <p:cNvPr id="31" name="A1">
            <a:extLst>
              <a:ext uri="{FF2B5EF4-FFF2-40B4-BE49-F238E27FC236}">
                <a16:creationId xmlns:a16="http://schemas.microsoft.com/office/drawing/2014/main" id="{15C0F81F-C04E-4725-8761-875105AF016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762125" cy="2381250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32" name="A1-ref">
            <a:extLst>
              <a:ext uri="{FF2B5EF4-FFF2-40B4-BE49-F238E27FC236}">
                <a16:creationId xmlns:a16="http://schemas.microsoft.com/office/drawing/2014/main" id="{934A2486-1489-4025-9A65-4FAA3D1630B9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A1  BỘ PHÁT</a:t>
            </a:r>
          </a:p>
        </p:txBody>
      </p:sp>
      <p:sp>
        <p:nvSpPr>
          <p:cNvPr id="33" name="A1-model">
            <a:extLst>
              <a:ext uri="{FF2B5EF4-FFF2-40B4-BE49-F238E27FC236}">
                <a16:creationId xmlns:a16="http://schemas.microsoft.com/office/drawing/2014/main" id="{C6A9C924-61FE-46D4-B5C4-66B149F7E65C}"/>
              </a:ext>
            </a:extLst>
          </p:cNvPr>
          <p:cNvSpPr>
            <a:spLocks noGrp="1"/>
          </p:cNvSpPr>
          <p:nvPr/>
        </p:nvSpPr>
        <p:spPr>
          <a:xfrm>
            <a:off x="704850" y="220027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ESP32 DevKit V1</a:t>
            </a:r>
          </a:p>
          <a:p>
            <a: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ESP-WROOM-32</a:t>
            </a:r>
          </a:p>
        </p:txBody>
      </p:sp>
      <p:sp>
        <p:nvSpPr>
          <p:cNvPr id="34" name="A1-DAC">
            <a:extLst>
              <a:ext uri="{FF2B5EF4-FFF2-40B4-BE49-F238E27FC236}">
                <a16:creationId xmlns:a16="http://schemas.microsoft.com/office/drawing/2014/main" id="{0CA35DE9-070A-4B25-8C1C-B7008FA5DE5A}"/>
              </a:ext>
            </a:extLst>
          </p:cNvPr>
          <p:cNvSpPr>
            <a:spLocks noGrp="1"/>
          </p:cNvSpPr>
          <p:nvPr/>
        </p:nvSpPr>
        <p:spPr>
          <a:xfrm>
            <a:off x="704850" y="258127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GPIO25 / DAC</a:t>
            </a:r>
          </a:p>
        </p:txBody>
      </p:sp>
      <p:sp>
        <p:nvSpPr>
          <p:cNvPr id="35" name="A1-DAC-port">
            <a:extLst>
              <a:ext uri="{FF2B5EF4-FFF2-40B4-BE49-F238E27FC236}">
                <a16:creationId xmlns:a16="http://schemas.microsoft.com/office/drawing/2014/main" id="{BE6FB0BC-8E95-45B2-AF53-B86F26FF7BCF}"/>
              </a:ext>
            </a:extLst>
          </p:cNvPr>
          <p:cNvSpPr>
            <a:spLocks noGrp="1"/>
          </p:cNvSpPr>
          <p:nvPr/>
        </p:nvSpPr>
        <p:spPr>
          <a:xfrm>
            <a:off x="2295525" y="264795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36" name="A1-GND">
            <a:extLst>
              <a:ext uri="{FF2B5EF4-FFF2-40B4-BE49-F238E27FC236}">
                <a16:creationId xmlns:a16="http://schemas.microsoft.com/office/drawing/2014/main" id="{5F88390B-0BA6-4595-B07A-E49E5DA80FCA}"/>
              </a:ext>
            </a:extLst>
          </p:cNvPr>
          <p:cNvSpPr>
            <a:spLocks noGrp="1"/>
          </p:cNvSpPr>
          <p:nvPr/>
        </p:nvSpPr>
        <p:spPr>
          <a:xfrm>
            <a:off x="704850" y="3895725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8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</a:t>
            </a:r>
          </a:p>
        </p:txBody>
      </p:sp>
      <p:sp>
        <p:nvSpPr>
          <p:cNvPr id="37" name="A1-GND-port">
            <a:extLst>
              <a:ext uri="{FF2B5EF4-FFF2-40B4-BE49-F238E27FC236}">
                <a16:creationId xmlns:a16="http://schemas.microsoft.com/office/drawing/2014/main" id="{06F4BAAF-C6FA-49AA-8AE8-D1FAFB133DDA}"/>
              </a:ext>
            </a:extLst>
          </p:cNvPr>
          <p:cNvSpPr>
            <a:spLocks noGrp="1"/>
          </p:cNvSpPr>
          <p:nvPr/>
        </p:nvSpPr>
        <p:spPr>
          <a:xfrm>
            <a:off x="2295525" y="396240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38" name="A1-usb">
            <a:extLst>
              <a:ext uri="{FF2B5EF4-FFF2-40B4-BE49-F238E27FC236}">
                <a16:creationId xmlns:a16="http://schemas.microsoft.com/office/drawing/2014/main" id="{1B8CDEBB-06F4-4DE6-B3E0-07106BB40DC2}"/>
              </a:ext>
            </a:extLst>
          </p:cNvPr>
          <p:cNvSpPr>
            <a:spLocks noGrp="1"/>
          </p:cNvSpPr>
          <p:nvPr/>
        </p:nvSpPr>
        <p:spPr>
          <a:xfrm>
            <a:off x="704850" y="3648075"/>
            <a:ext cx="1524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F6870"/>
                </a:solidFill>
                <a:latin typeface="Arial"/>
                <a:ea typeface="Arial"/>
                <a:cs typeface="Arial"/>
              </a:rPr>
              <a:t>Micro-USB 5 V</a:t>
            </a:r>
          </a:p>
        </p:txBody>
      </p:sp>
      <p:sp>
        <p:nvSpPr>
          <p:cNvPr id="39" name="A2">
            <a:extLst>
              <a:ext uri="{FF2B5EF4-FFF2-40B4-BE49-F238E27FC236}">
                <a16:creationId xmlns:a16="http://schemas.microsoft.com/office/drawing/2014/main" id="{E05BC19E-D9FC-4787-AA66-2E2000713E42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238375" cy="2857500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40" name="A2-ref">
            <a:extLst>
              <a:ext uri="{FF2B5EF4-FFF2-40B4-BE49-F238E27FC236}">
                <a16:creationId xmlns:a16="http://schemas.microsoft.com/office/drawing/2014/main" id="{882D6F55-B91F-4F69-948C-DA1ECB7B683E}"/>
              </a:ext>
            </a:extLst>
          </p:cNvPr>
          <p:cNvSpPr>
            <a:spLocks noGrp="1"/>
          </p:cNvSpPr>
          <p:nvPr/>
        </p:nvSpPr>
        <p:spPr>
          <a:xfrm>
            <a:off x="6229350" y="1914525"/>
            <a:ext cx="19907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A2  BỘ THU HIL</a:t>
            </a:r>
          </a:p>
        </p:txBody>
      </p:sp>
      <p:sp>
        <p:nvSpPr>
          <p:cNvPr id="41" name="A2-model">
            <a:extLst>
              <a:ext uri="{FF2B5EF4-FFF2-40B4-BE49-F238E27FC236}">
                <a16:creationId xmlns:a16="http://schemas.microsoft.com/office/drawing/2014/main" id="{4E1E1D99-87F4-4064-8837-3D5FD2C655D4}"/>
              </a:ext>
            </a:extLst>
          </p:cNvPr>
          <p:cNvSpPr>
            <a:spLocks noGrp="1"/>
          </p:cNvSpPr>
          <p:nvPr/>
        </p:nvSpPr>
        <p:spPr>
          <a:xfrm>
            <a:off x="6229350" y="2200275"/>
            <a:ext cx="19907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0" dirty="0" err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TMe</a:t>
            </a:r>
            <a:r>
              <a:rPr sz="975" b="0" dirty="0">
                <a:solidFill>
                  <a:srgbClr val="16343D"/>
                </a:solidFill>
                <a:latin typeface="Arial"/>
                <a:ea typeface="Arial"/>
                <a:cs typeface="Arial"/>
              </a:rPr>
              <a:t> ESP32-S3 Dev</a:t>
            </a:r>
          </a:p>
          <a:p>
            <a: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16343D"/>
                </a:solidFill>
                <a:latin typeface="Arial"/>
                <a:ea typeface="Arial"/>
                <a:cs typeface="Arial"/>
              </a:rPr>
              <a:t>WROOM-1 N8R8</a:t>
            </a:r>
          </a:p>
        </p:txBody>
      </p:sp>
      <p:sp>
        <p:nvSpPr>
          <p:cNvPr id="42" name="A2-ADC">
            <a:extLst>
              <a:ext uri="{FF2B5EF4-FFF2-40B4-BE49-F238E27FC236}">
                <a16:creationId xmlns:a16="http://schemas.microsoft.com/office/drawing/2014/main" id="{6E63ABB3-54DD-4257-9B12-A9BED322FBA9}"/>
              </a:ext>
            </a:extLst>
          </p:cNvPr>
          <p:cNvSpPr>
            <a:spLocks noGrp="1"/>
          </p:cNvSpPr>
          <p:nvPr/>
        </p:nvSpPr>
        <p:spPr>
          <a:xfrm>
            <a:off x="6229350" y="2581275"/>
            <a:ext cx="19812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GPIO1 / ADC1_CH0</a:t>
            </a:r>
          </a:p>
        </p:txBody>
      </p:sp>
      <p:sp>
        <p:nvSpPr>
          <p:cNvPr id="43" name="A2-ADC-port">
            <a:extLst>
              <a:ext uri="{FF2B5EF4-FFF2-40B4-BE49-F238E27FC236}">
                <a16:creationId xmlns:a16="http://schemas.microsoft.com/office/drawing/2014/main" id="{3C2902CF-4280-4074-B4B4-3A411E8FBAB4}"/>
              </a:ext>
            </a:extLst>
          </p:cNvPr>
          <p:cNvSpPr>
            <a:spLocks noGrp="1"/>
          </p:cNvSpPr>
          <p:nvPr/>
        </p:nvSpPr>
        <p:spPr>
          <a:xfrm>
            <a:off x="6057900" y="264795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44" name="A2-atten">
            <a:extLst>
              <a:ext uri="{FF2B5EF4-FFF2-40B4-BE49-F238E27FC236}">
                <a16:creationId xmlns:a16="http://schemas.microsoft.com/office/drawing/2014/main" id="{DAC6A0E7-E6C5-4810-9A25-EEA534ACC7A8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F6870"/>
                </a:solidFill>
                <a:latin typeface="Arial"/>
                <a:ea typeface="Arial"/>
                <a:cs typeface="Arial"/>
              </a:rPr>
              <a:t>ADC 12-bit, atten cao nhất</a:t>
            </a:r>
          </a:p>
        </p:txBody>
      </p:sp>
      <p:sp>
        <p:nvSpPr>
          <p:cNvPr id="45" name="A2-GND-L">
            <a:extLst>
              <a:ext uri="{FF2B5EF4-FFF2-40B4-BE49-F238E27FC236}">
                <a16:creationId xmlns:a16="http://schemas.microsoft.com/office/drawing/2014/main" id="{C845BB4C-8ABE-4208-BEC7-C1B8ADF3CA79}"/>
              </a:ext>
            </a:extLst>
          </p:cNvPr>
          <p:cNvSpPr>
            <a:spLocks noGrp="1"/>
          </p:cNvSpPr>
          <p:nvPr/>
        </p:nvSpPr>
        <p:spPr>
          <a:xfrm>
            <a:off x="6229350" y="3895725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</a:t>
            </a:r>
          </a:p>
        </p:txBody>
      </p:sp>
      <p:sp>
        <p:nvSpPr>
          <p:cNvPr id="46" name="A2-GND-left-port">
            <a:extLst>
              <a:ext uri="{FF2B5EF4-FFF2-40B4-BE49-F238E27FC236}">
                <a16:creationId xmlns:a16="http://schemas.microsoft.com/office/drawing/2014/main" id="{E9F548D9-795C-473B-9EEF-0C9BCC08A8DA}"/>
              </a:ext>
            </a:extLst>
          </p:cNvPr>
          <p:cNvSpPr>
            <a:spLocks noGrp="1"/>
          </p:cNvSpPr>
          <p:nvPr/>
        </p:nvSpPr>
        <p:spPr>
          <a:xfrm>
            <a:off x="6057900" y="396240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47" name="A2-usb">
            <a:extLst>
              <a:ext uri="{FF2B5EF4-FFF2-40B4-BE49-F238E27FC236}">
                <a16:creationId xmlns:a16="http://schemas.microsoft.com/office/drawing/2014/main" id="{C1BEB3D2-C07B-4C85-9988-15B0049EB94E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1038225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F6870"/>
                </a:solidFill>
                <a:latin typeface="Arial"/>
                <a:ea typeface="Arial"/>
                <a:cs typeface="Arial"/>
              </a:rPr>
              <a:t>USB-C 5 V</a:t>
            </a:r>
          </a:p>
        </p:txBody>
      </p:sp>
      <p:sp>
        <p:nvSpPr>
          <p:cNvPr id="48" name="A2-3V3-right-label">
            <a:extLst>
              <a:ext uri="{FF2B5EF4-FFF2-40B4-BE49-F238E27FC236}">
                <a16:creationId xmlns:a16="http://schemas.microsoft.com/office/drawing/2014/main" id="{135FC627-B060-4B7E-B4B3-2A4FA45CFD28}"/>
              </a:ext>
            </a:extLst>
          </p:cNvPr>
          <p:cNvSpPr>
            <a:spLocks noGrp="1"/>
          </p:cNvSpPr>
          <p:nvPr/>
        </p:nvSpPr>
        <p:spPr>
          <a:xfrm>
            <a:off x="7248525" y="2895600"/>
            <a:ext cx="9810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3V3</a:t>
            </a:r>
          </a:p>
        </p:txBody>
      </p:sp>
      <p:sp>
        <p:nvSpPr>
          <p:cNvPr id="49" name="A2-3V3-right-port">
            <a:extLst>
              <a:ext uri="{FF2B5EF4-FFF2-40B4-BE49-F238E27FC236}">
                <a16:creationId xmlns:a16="http://schemas.microsoft.com/office/drawing/2014/main" id="{4EEEAB93-DE97-40C4-844E-BAC6B52FCAF2}"/>
              </a:ext>
            </a:extLst>
          </p:cNvPr>
          <p:cNvSpPr>
            <a:spLocks noGrp="1"/>
          </p:cNvSpPr>
          <p:nvPr/>
        </p:nvSpPr>
        <p:spPr>
          <a:xfrm>
            <a:off x="8296275" y="296227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50" name="A2-SDA-right-label">
            <a:extLst>
              <a:ext uri="{FF2B5EF4-FFF2-40B4-BE49-F238E27FC236}">
                <a16:creationId xmlns:a16="http://schemas.microsoft.com/office/drawing/2014/main" id="{BB803966-F363-416C-B0AE-7B500627DCB8}"/>
              </a:ext>
            </a:extLst>
          </p:cNvPr>
          <p:cNvSpPr>
            <a:spLocks noGrp="1"/>
          </p:cNvSpPr>
          <p:nvPr/>
        </p:nvSpPr>
        <p:spPr>
          <a:xfrm>
            <a:off x="7248525" y="3371850"/>
            <a:ext cx="9810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GPIO8 / SDA</a:t>
            </a:r>
          </a:p>
        </p:txBody>
      </p:sp>
      <p:sp>
        <p:nvSpPr>
          <p:cNvPr id="51" name="A2-SDA-right-port">
            <a:extLst>
              <a:ext uri="{FF2B5EF4-FFF2-40B4-BE49-F238E27FC236}">
                <a16:creationId xmlns:a16="http://schemas.microsoft.com/office/drawing/2014/main" id="{1D8F88F5-6599-4157-B5C9-B374D2AF33EE}"/>
              </a:ext>
            </a:extLst>
          </p:cNvPr>
          <p:cNvSpPr>
            <a:spLocks noGrp="1"/>
          </p:cNvSpPr>
          <p:nvPr/>
        </p:nvSpPr>
        <p:spPr>
          <a:xfrm>
            <a:off x="8296275" y="343852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52" name="A2-SCL-right-label">
            <a:extLst>
              <a:ext uri="{FF2B5EF4-FFF2-40B4-BE49-F238E27FC236}">
                <a16:creationId xmlns:a16="http://schemas.microsoft.com/office/drawing/2014/main" id="{FECBD238-8C7A-467F-9655-1989455C7AFD}"/>
              </a:ext>
            </a:extLst>
          </p:cNvPr>
          <p:cNvSpPr>
            <a:spLocks noGrp="1"/>
          </p:cNvSpPr>
          <p:nvPr/>
        </p:nvSpPr>
        <p:spPr>
          <a:xfrm>
            <a:off x="7248525" y="3848100"/>
            <a:ext cx="9810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GPIO9 / SCL</a:t>
            </a:r>
          </a:p>
        </p:txBody>
      </p:sp>
      <p:sp>
        <p:nvSpPr>
          <p:cNvPr id="53" name="A2-SCL-right-port">
            <a:extLst>
              <a:ext uri="{FF2B5EF4-FFF2-40B4-BE49-F238E27FC236}">
                <a16:creationId xmlns:a16="http://schemas.microsoft.com/office/drawing/2014/main" id="{7A7617C5-A635-47C5-81C4-930CB57CFF05}"/>
              </a:ext>
            </a:extLst>
          </p:cNvPr>
          <p:cNvSpPr>
            <a:spLocks noGrp="1"/>
          </p:cNvSpPr>
          <p:nvPr/>
        </p:nvSpPr>
        <p:spPr>
          <a:xfrm>
            <a:off x="8296275" y="391477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54" name="A2-GND-right-label">
            <a:extLst>
              <a:ext uri="{FF2B5EF4-FFF2-40B4-BE49-F238E27FC236}">
                <a16:creationId xmlns:a16="http://schemas.microsoft.com/office/drawing/2014/main" id="{CA80AFA0-A6DA-4D22-8933-7C7AEA13B679}"/>
              </a:ext>
            </a:extLst>
          </p:cNvPr>
          <p:cNvSpPr>
            <a:spLocks noGrp="1"/>
          </p:cNvSpPr>
          <p:nvPr/>
        </p:nvSpPr>
        <p:spPr>
          <a:xfrm>
            <a:off x="7248525" y="4324350"/>
            <a:ext cx="9810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</a:t>
            </a:r>
          </a:p>
        </p:txBody>
      </p:sp>
      <p:sp>
        <p:nvSpPr>
          <p:cNvPr id="55" name="A2-GND-right-port">
            <a:extLst>
              <a:ext uri="{FF2B5EF4-FFF2-40B4-BE49-F238E27FC236}">
                <a16:creationId xmlns:a16="http://schemas.microsoft.com/office/drawing/2014/main" id="{7D3350E6-DE69-43A9-A7CD-FC4021844885}"/>
              </a:ext>
            </a:extLst>
          </p:cNvPr>
          <p:cNvSpPr>
            <a:spLocks noGrp="1"/>
          </p:cNvSpPr>
          <p:nvPr/>
        </p:nvSpPr>
        <p:spPr>
          <a:xfrm>
            <a:off x="8296275" y="439102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56" name="A3">
            <a:extLst>
              <a:ext uri="{FF2B5EF4-FFF2-40B4-BE49-F238E27FC236}">
                <a16:creationId xmlns:a16="http://schemas.microsoft.com/office/drawing/2014/main" id="{2312D92C-6368-4EC5-9030-E68DB14967AA}"/>
              </a:ext>
            </a:extLst>
          </p:cNvPr>
          <p:cNvSpPr>
            <a:spLocks noGrp="1"/>
          </p:cNvSpPr>
          <p:nvPr/>
        </p:nvSpPr>
        <p:spPr>
          <a:xfrm>
            <a:off x="10382250" y="2381250"/>
            <a:ext cx="135255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57" name="A3-ref">
            <a:extLst>
              <a:ext uri="{FF2B5EF4-FFF2-40B4-BE49-F238E27FC236}">
                <a16:creationId xmlns:a16="http://schemas.microsoft.com/office/drawing/2014/main" id="{0B5B1D94-BD90-4F46-A149-FBB02E03E111}"/>
              </a:ext>
            </a:extLst>
          </p:cNvPr>
          <p:cNvSpPr>
            <a:spLocks noGrp="1"/>
          </p:cNvSpPr>
          <p:nvPr/>
        </p:nvSpPr>
        <p:spPr>
          <a:xfrm>
            <a:off x="10496550" y="246697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A3  OLED</a:t>
            </a:r>
          </a:p>
        </p:txBody>
      </p:sp>
      <p:sp>
        <p:nvSpPr>
          <p:cNvPr id="58" name="A3-model">
            <a:extLst>
              <a:ext uri="{FF2B5EF4-FFF2-40B4-BE49-F238E27FC236}">
                <a16:creationId xmlns:a16="http://schemas.microsoft.com/office/drawing/2014/main" id="{EFD4636D-332C-412B-B364-789B6C4ABCA0}"/>
              </a:ext>
            </a:extLst>
          </p:cNvPr>
          <p:cNvSpPr>
            <a:spLocks noGrp="1"/>
          </p:cNvSpPr>
          <p:nvPr/>
        </p:nvSpPr>
        <p:spPr>
          <a:xfrm>
            <a:off x="10496550" y="27241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SSD1306, I²C</a:t>
            </a:r>
          </a:p>
        </p:txBody>
      </p:sp>
      <p:sp>
        <p:nvSpPr>
          <p:cNvPr id="59" name="A3-VCC-port">
            <a:extLst>
              <a:ext uri="{FF2B5EF4-FFF2-40B4-BE49-F238E27FC236}">
                <a16:creationId xmlns:a16="http://schemas.microsoft.com/office/drawing/2014/main" id="{2517F0C2-B971-4821-9FE0-FA75289083BE}"/>
              </a:ext>
            </a:extLst>
          </p:cNvPr>
          <p:cNvSpPr>
            <a:spLocks noGrp="1"/>
          </p:cNvSpPr>
          <p:nvPr/>
        </p:nvSpPr>
        <p:spPr>
          <a:xfrm>
            <a:off x="10344150" y="296227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60" name="A3-VCC">
            <a:extLst>
              <a:ext uri="{FF2B5EF4-FFF2-40B4-BE49-F238E27FC236}">
                <a16:creationId xmlns:a16="http://schemas.microsoft.com/office/drawing/2014/main" id="{915479F9-13D7-4D31-A144-9173DB4BA9BF}"/>
              </a:ext>
            </a:extLst>
          </p:cNvPr>
          <p:cNvSpPr>
            <a:spLocks noGrp="1"/>
          </p:cNvSpPr>
          <p:nvPr/>
        </p:nvSpPr>
        <p:spPr>
          <a:xfrm>
            <a:off x="10506075" y="289560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VCC / 3V3</a:t>
            </a:r>
          </a:p>
        </p:txBody>
      </p:sp>
      <p:sp>
        <p:nvSpPr>
          <p:cNvPr id="61" name="A3-SDA-port">
            <a:extLst>
              <a:ext uri="{FF2B5EF4-FFF2-40B4-BE49-F238E27FC236}">
                <a16:creationId xmlns:a16="http://schemas.microsoft.com/office/drawing/2014/main" id="{39D1116A-590D-4482-8667-B6FC58742285}"/>
              </a:ext>
            </a:extLst>
          </p:cNvPr>
          <p:cNvSpPr>
            <a:spLocks noGrp="1"/>
          </p:cNvSpPr>
          <p:nvPr/>
        </p:nvSpPr>
        <p:spPr>
          <a:xfrm>
            <a:off x="10344150" y="343852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62" name="A3-SDA">
            <a:extLst>
              <a:ext uri="{FF2B5EF4-FFF2-40B4-BE49-F238E27FC236}">
                <a16:creationId xmlns:a16="http://schemas.microsoft.com/office/drawing/2014/main" id="{82C31834-CA9F-45C4-A7AA-5BCE7E8AF96E}"/>
              </a:ext>
            </a:extLst>
          </p:cNvPr>
          <p:cNvSpPr>
            <a:spLocks noGrp="1"/>
          </p:cNvSpPr>
          <p:nvPr/>
        </p:nvSpPr>
        <p:spPr>
          <a:xfrm>
            <a:off x="10506075" y="33718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SDA</a:t>
            </a:r>
          </a:p>
        </p:txBody>
      </p:sp>
      <p:sp>
        <p:nvSpPr>
          <p:cNvPr id="63" name="A3-SCL-port">
            <a:extLst>
              <a:ext uri="{FF2B5EF4-FFF2-40B4-BE49-F238E27FC236}">
                <a16:creationId xmlns:a16="http://schemas.microsoft.com/office/drawing/2014/main" id="{5C9978E9-50F4-4BA4-992E-261F8F384823}"/>
              </a:ext>
            </a:extLst>
          </p:cNvPr>
          <p:cNvSpPr>
            <a:spLocks noGrp="1"/>
          </p:cNvSpPr>
          <p:nvPr/>
        </p:nvSpPr>
        <p:spPr>
          <a:xfrm>
            <a:off x="10344150" y="391477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64" name="A3-SCL">
            <a:extLst>
              <a:ext uri="{FF2B5EF4-FFF2-40B4-BE49-F238E27FC236}">
                <a16:creationId xmlns:a16="http://schemas.microsoft.com/office/drawing/2014/main" id="{ECA88E29-2CF9-4057-9C15-8B1AB4230F22}"/>
              </a:ext>
            </a:extLst>
          </p:cNvPr>
          <p:cNvSpPr>
            <a:spLocks noGrp="1"/>
          </p:cNvSpPr>
          <p:nvPr/>
        </p:nvSpPr>
        <p:spPr>
          <a:xfrm>
            <a:off x="10506075" y="384810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SCL</a:t>
            </a:r>
          </a:p>
        </p:txBody>
      </p:sp>
      <p:sp>
        <p:nvSpPr>
          <p:cNvPr id="65" name="A3-GND-port">
            <a:extLst>
              <a:ext uri="{FF2B5EF4-FFF2-40B4-BE49-F238E27FC236}">
                <a16:creationId xmlns:a16="http://schemas.microsoft.com/office/drawing/2014/main" id="{1A533F1C-D46C-4165-9461-5F3157B7BF57}"/>
              </a:ext>
            </a:extLst>
          </p:cNvPr>
          <p:cNvSpPr>
            <a:spLocks noGrp="1"/>
          </p:cNvSpPr>
          <p:nvPr/>
        </p:nvSpPr>
        <p:spPr>
          <a:xfrm>
            <a:off x="10344150" y="4391025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66" name="A3-GND">
            <a:extLst>
              <a:ext uri="{FF2B5EF4-FFF2-40B4-BE49-F238E27FC236}">
                <a16:creationId xmlns:a16="http://schemas.microsoft.com/office/drawing/2014/main" id="{1C3CC544-E901-47A0-B5CC-D08488A8124E}"/>
              </a:ext>
            </a:extLst>
          </p:cNvPr>
          <p:cNvSpPr>
            <a:spLocks noGrp="1"/>
          </p:cNvSpPr>
          <p:nvPr/>
        </p:nvSpPr>
        <p:spPr>
          <a:xfrm>
            <a:off x="10506075" y="43243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</a:t>
            </a:r>
          </a:p>
        </p:txBody>
      </p:sp>
      <p:sp>
        <p:nvSpPr>
          <p:cNvPr id="67" name="DAC-to-R1">
            <a:extLst>
              <a:ext uri="{FF2B5EF4-FFF2-40B4-BE49-F238E27FC236}">
                <a16:creationId xmlns:a16="http://schemas.microsoft.com/office/drawing/2014/main" id="{4F1A6108-D958-4BF4-9898-4A63FA65B207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7905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68" name="R1-symbol">
            <a:extLst>
              <a:ext uri="{FF2B5EF4-FFF2-40B4-BE49-F238E27FC236}">
                <a16:creationId xmlns:a16="http://schemas.microsoft.com/office/drawing/2014/main" id="{F1850DA7-41F6-45CA-83C6-9C7E66C80204}"/>
              </a:ext>
            </a:extLst>
          </p:cNvPr>
          <p:cNvSpPr>
            <a:spLocks noGrp="1"/>
          </p:cNvSpPr>
          <p:nvPr/>
        </p:nvSpPr>
        <p:spPr>
          <a:xfrm>
            <a:off x="3124200" y="2590800"/>
            <a:ext cx="571500" cy="19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69" name="R1-to-ADC">
            <a:extLst>
              <a:ext uri="{FF2B5EF4-FFF2-40B4-BE49-F238E27FC236}">
                <a16:creationId xmlns:a16="http://schemas.microsoft.com/office/drawing/2014/main" id="{0B207705-023B-4859-891D-55EB7BC1B959}"/>
              </a:ext>
            </a:extLst>
          </p:cNvPr>
          <p:cNvSpPr>
            <a:spLocks noGrp="1"/>
          </p:cNvSpPr>
          <p:nvPr/>
        </p:nvSpPr>
        <p:spPr>
          <a:xfrm>
            <a:off x="3695700" y="2686050"/>
            <a:ext cx="240030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70" name="R1-value">
            <a:extLst>
              <a:ext uri="{FF2B5EF4-FFF2-40B4-BE49-F238E27FC236}">
                <a16:creationId xmlns:a16="http://schemas.microsoft.com/office/drawing/2014/main" id="{3BAE511B-7AC5-422D-BE03-C9011526785B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R1  10 kΩ ±5%</a:t>
            </a:r>
          </a:p>
        </p:txBody>
      </p:sp>
      <p:sp>
        <p:nvSpPr>
          <p:cNvPr id="71" name="DAC-net">
            <a:extLst>
              <a:ext uri="{FF2B5EF4-FFF2-40B4-BE49-F238E27FC236}">
                <a16:creationId xmlns:a16="http://schemas.microsoft.com/office/drawing/2014/main" id="{7634F335-5B8A-4D82-AEE9-2B6E124D5C29}"/>
              </a:ext>
            </a:extLst>
          </p:cNvPr>
          <p:cNvSpPr>
            <a:spLocks noGrp="1"/>
          </p:cNvSpPr>
          <p:nvPr/>
        </p:nvSpPr>
        <p:spPr>
          <a:xfrm>
            <a:off x="2419350" y="2905125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1"/>
                </a:solidFill>
                <a:latin typeface="Arial"/>
                <a:ea typeface="Arial"/>
                <a:cs typeface="Arial"/>
              </a:rPr>
              <a:t>DAC_OUT</a:t>
            </a:r>
          </a:p>
        </p:txBody>
      </p:sp>
      <p:sp>
        <p:nvSpPr>
          <p:cNvPr id="72" name="ADC-net">
            <a:extLst>
              <a:ext uri="{FF2B5EF4-FFF2-40B4-BE49-F238E27FC236}">
                <a16:creationId xmlns:a16="http://schemas.microsoft.com/office/drawing/2014/main" id="{E8DD14D0-4F28-4441-865F-A617CF58E525}"/>
              </a:ext>
            </a:extLst>
          </p:cNvPr>
          <p:cNvSpPr>
            <a:spLocks noGrp="1"/>
          </p:cNvSpPr>
          <p:nvPr/>
        </p:nvSpPr>
        <p:spPr>
          <a:xfrm>
            <a:off x="4857750" y="2409825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1"/>
                </a:solidFill>
                <a:latin typeface="Arial"/>
                <a:ea typeface="Arial"/>
                <a:cs typeface="Arial"/>
              </a:rPr>
              <a:t>ADC_IN</a:t>
            </a:r>
          </a:p>
        </p:txBody>
      </p:sp>
      <p:sp>
        <p:nvSpPr>
          <p:cNvPr id="73" name="R2-top">
            <a:extLst>
              <a:ext uri="{FF2B5EF4-FFF2-40B4-BE49-F238E27FC236}">
                <a16:creationId xmlns:a16="http://schemas.microsoft.com/office/drawing/2014/main" id="{4210DBF7-F273-467E-84A8-AE5F69675CE1}"/>
              </a:ext>
            </a:extLst>
          </p:cNvPr>
          <p:cNvSpPr>
            <a:spLocks noGrp="1"/>
          </p:cNvSpPr>
          <p:nvPr/>
        </p:nvSpPr>
        <p:spPr>
          <a:xfrm>
            <a:off x="4429125" y="2686050"/>
            <a:ext cx="0" cy="6477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74" name="R2-symbol">
            <a:extLst>
              <a:ext uri="{FF2B5EF4-FFF2-40B4-BE49-F238E27FC236}">
                <a16:creationId xmlns:a16="http://schemas.microsoft.com/office/drawing/2014/main" id="{8D9165DF-A5DB-4E67-B566-C70DCC289187}"/>
              </a:ext>
            </a:extLst>
          </p:cNvPr>
          <p:cNvSpPr>
            <a:spLocks noGrp="1"/>
          </p:cNvSpPr>
          <p:nvPr/>
        </p:nvSpPr>
        <p:spPr>
          <a:xfrm>
            <a:off x="4333875" y="3333750"/>
            <a:ext cx="190500" cy="523875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75" name="R2-bottom">
            <a:extLst>
              <a:ext uri="{FF2B5EF4-FFF2-40B4-BE49-F238E27FC236}">
                <a16:creationId xmlns:a16="http://schemas.microsoft.com/office/drawing/2014/main" id="{7000D95B-0A77-4439-8F82-15D2DAD73AF1}"/>
              </a:ext>
            </a:extLst>
          </p:cNvPr>
          <p:cNvSpPr>
            <a:spLocks noGrp="1"/>
          </p:cNvSpPr>
          <p:nvPr/>
        </p:nvSpPr>
        <p:spPr>
          <a:xfrm>
            <a:off x="4429125" y="3857625"/>
            <a:ext cx="0" cy="523875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76" name="R2-value">
            <a:extLst>
              <a:ext uri="{FF2B5EF4-FFF2-40B4-BE49-F238E27FC236}">
                <a16:creationId xmlns:a16="http://schemas.microsoft.com/office/drawing/2014/main" id="{21EDC1AB-6455-42BF-89E0-36106274AD83}"/>
              </a:ext>
            </a:extLst>
          </p:cNvPr>
          <p:cNvSpPr>
            <a:spLocks noGrp="1"/>
          </p:cNvSpPr>
          <p:nvPr/>
        </p:nvSpPr>
        <p:spPr>
          <a:xfrm>
            <a:off x="3133725" y="3438525"/>
            <a:ext cx="11144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R2 39 kΩ ±5%</a:t>
            </a:r>
          </a:p>
        </p:txBody>
      </p:sp>
      <p:sp>
        <p:nvSpPr>
          <p:cNvPr id="77" name="C1-top">
            <a:extLst>
              <a:ext uri="{FF2B5EF4-FFF2-40B4-BE49-F238E27FC236}">
                <a16:creationId xmlns:a16="http://schemas.microsoft.com/office/drawing/2014/main" id="{31AEE3A5-80ED-4054-87B3-E0F3CFD64231}"/>
              </a:ext>
            </a:extLst>
          </p:cNvPr>
          <p:cNvSpPr>
            <a:spLocks noGrp="1"/>
          </p:cNvSpPr>
          <p:nvPr/>
        </p:nvSpPr>
        <p:spPr>
          <a:xfrm>
            <a:off x="5286375" y="2686050"/>
            <a:ext cx="0" cy="695325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78" name="C1-plate-top">
            <a:extLst>
              <a:ext uri="{FF2B5EF4-FFF2-40B4-BE49-F238E27FC236}">
                <a16:creationId xmlns:a16="http://schemas.microsoft.com/office/drawing/2014/main" id="{04404E29-5927-498F-9DCB-96E92D98BF85}"/>
              </a:ext>
            </a:extLst>
          </p:cNvPr>
          <p:cNvSpPr>
            <a:spLocks noGrp="1"/>
          </p:cNvSpPr>
          <p:nvPr/>
        </p:nvSpPr>
        <p:spPr>
          <a:xfrm>
            <a:off x="5114925" y="3381375"/>
            <a:ext cx="34290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79" name="C1-plate-bottom">
            <a:extLst>
              <a:ext uri="{FF2B5EF4-FFF2-40B4-BE49-F238E27FC236}">
                <a16:creationId xmlns:a16="http://schemas.microsoft.com/office/drawing/2014/main" id="{B9C09F8D-EED2-4B57-B87C-384937E1B189}"/>
              </a:ext>
            </a:extLst>
          </p:cNvPr>
          <p:cNvSpPr>
            <a:spLocks noGrp="1"/>
          </p:cNvSpPr>
          <p:nvPr/>
        </p:nvSpPr>
        <p:spPr>
          <a:xfrm>
            <a:off x="5114925" y="3486150"/>
            <a:ext cx="34290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0" name="C1-bottom">
            <a:extLst>
              <a:ext uri="{FF2B5EF4-FFF2-40B4-BE49-F238E27FC236}">
                <a16:creationId xmlns:a16="http://schemas.microsoft.com/office/drawing/2014/main" id="{3FC2240D-D6C4-4D12-958D-154C13B5F034}"/>
              </a:ext>
            </a:extLst>
          </p:cNvPr>
          <p:cNvSpPr>
            <a:spLocks noGrp="1"/>
          </p:cNvSpPr>
          <p:nvPr/>
        </p:nvSpPr>
        <p:spPr>
          <a:xfrm>
            <a:off x="5286375" y="3486150"/>
            <a:ext cx="0" cy="89535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1" name="C1-value">
            <a:extLst>
              <a:ext uri="{FF2B5EF4-FFF2-40B4-BE49-F238E27FC236}">
                <a16:creationId xmlns:a16="http://schemas.microsoft.com/office/drawing/2014/main" id="{442D321C-52F6-4A4C-B336-3250484ADD44}"/>
              </a:ext>
            </a:extLst>
          </p:cNvPr>
          <p:cNvSpPr>
            <a:spLocks noGrp="1"/>
          </p:cNvSpPr>
          <p:nvPr/>
        </p:nvSpPr>
        <p:spPr>
          <a:xfrm>
            <a:off x="5514975" y="3133725"/>
            <a:ext cx="5524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C1</a:t>
            </a:r>
          </a:p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100 nF</a:t>
            </a:r>
          </a:p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±20%</a:t>
            </a:r>
          </a:p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50 V</a:t>
            </a:r>
          </a:p>
        </p:txBody>
      </p:sp>
      <p:sp>
        <p:nvSpPr>
          <p:cNvPr id="82" name="A1-gnd-stub">
            <a:extLst>
              <a:ext uri="{FF2B5EF4-FFF2-40B4-BE49-F238E27FC236}">
                <a16:creationId xmlns:a16="http://schemas.microsoft.com/office/drawing/2014/main" id="{E4EFF947-4F67-4080-BBE4-DD84135A5198}"/>
              </a:ext>
            </a:extLst>
          </p:cNvPr>
          <p:cNvSpPr>
            <a:spLocks noGrp="1"/>
          </p:cNvSpPr>
          <p:nvPr/>
        </p:nvSpPr>
        <p:spPr>
          <a:xfrm>
            <a:off x="2333625" y="4000500"/>
            <a:ext cx="3333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3" name="A1-gnd-drop">
            <a:extLst>
              <a:ext uri="{FF2B5EF4-FFF2-40B4-BE49-F238E27FC236}">
                <a16:creationId xmlns:a16="http://schemas.microsoft.com/office/drawing/2014/main" id="{09916EF5-8C7E-4359-BA4E-F99CC313E99C}"/>
              </a:ext>
            </a:extLst>
          </p:cNvPr>
          <p:cNvSpPr>
            <a:spLocks noGrp="1"/>
          </p:cNvSpPr>
          <p:nvPr/>
        </p:nvSpPr>
        <p:spPr>
          <a:xfrm>
            <a:off x="2667000" y="4000500"/>
            <a:ext cx="0" cy="3810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4" name="gnd-bus">
            <a:extLst>
              <a:ext uri="{FF2B5EF4-FFF2-40B4-BE49-F238E27FC236}">
                <a16:creationId xmlns:a16="http://schemas.microsoft.com/office/drawing/2014/main" id="{795062CD-E805-4DE4-94B0-432E70D55977}"/>
              </a:ext>
            </a:extLst>
          </p:cNvPr>
          <p:cNvSpPr>
            <a:spLocks noGrp="1"/>
          </p:cNvSpPr>
          <p:nvPr/>
        </p:nvSpPr>
        <p:spPr>
          <a:xfrm>
            <a:off x="2667000" y="4381500"/>
            <a:ext cx="314325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5" name="A2-gnd-drop">
            <a:extLst>
              <a:ext uri="{FF2B5EF4-FFF2-40B4-BE49-F238E27FC236}">
                <a16:creationId xmlns:a16="http://schemas.microsoft.com/office/drawing/2014/main" id="{EE318795-135C-4EBA-A627-5E21DFFCC410}"/>
              </a:ext>
            </a:extLst>
          </p:cNvPr>
          <p:cNvSpPr>
            <a:spLocks noGrp="1"/>
          </p:cNvSpPr>
          <p:nvPr/>
        </p:nvSpPr>
        <p:spPr>
          <a:xfrm>
            <a:off x="5810250" y="4000500"/>
            <a:ext cx="0" cy="3810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6" name="A2-gnd-stub">
            <a:extLst>
              <a:ext uri="{FF2B5EF4-FFF2-40B4-BE49-F238E27FC236}">
                <a16:creationId xmlns:a16="http://schemas.microsoft.com/office/drawing/2014/main" id="{3F78247A-BE0E-4FD6-865C-FA9316DBDCB8}"/>
              </a:ext>
            </a:extLst>
          </p:cNvPr>
          <p:cNvSpPr>
            <a:spLocks noGrp="1"/>
          </p:cNvSpPr>
          <p:nvPr/>
        </p:nvSpPr>
        <p:spPr>
          <a:xfrm>
            <a:off x="5810250" y="4000500"/>
            <a:ext cx="28575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87" name="junction-465-282">
            <a:extLst>
              <a:ext uri="{FF2B5EF4-FFF2-40B4-BE49-F238E27FC236}">
                <a16:creationId xmlns:a16="http://schemas.microsoft.com/office/drawing/2014/main" id="{C69CC627-A12F-44C5-8AFC-DD0909912FF3}"/>
              </a:ext>
            </a:extLst>
          </p:cNvPr>
          <p:cNvSpPr>
            <a:spLocks noGrp="1"/>
          </p:cNvSpPr>
          <p:nvPr/>
        </p:nvSpPr>
        <p:spPr>
          <a:xfrm>
            <a:off x="4400550" y="265747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88" name="junction-555-282">
            <a:extLst>
              <a:ext uri="{FF2B5EF4-FFF2-40B4-BE49-F238E27FC236}">
                <a16:creationId xmlns:a16="http://schemas.microsoft.com/office/drawing/2014/main" id="{38CF48DA-709C-41C9-8E52-96DF536FAA99}"/>
              </a:ext>
            </a:extLst>
          </p:cNvPr>
          <p:cNvSpPr>
            <a:spLocks noGrp="1"/>
          </p:cNvSpPr>
          <p:nvPr/>
        </p:nvSpPr>
        <p:spPr>
          <a:xfrm>
            <a:off x="5257800" y="265747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89" name="junction-465-460">
            <a:extLst>
              <a:ext uri="{FF2B5EF4-FFF2-40B4-BE49-F238E27FC236}">
                <a16:creationId xmlns:a16="http://schemas.microsoft.com/office/drawing/2014/main" id="{D2633B30-4CEF-46B0-B980-6D63FAB94AEA}"/>
              </a:ext>
            </a:extLst>
          </p:cNvPr>
          <p:cNvSpPr>
            <a:spLocks noGrp="1"/>
          </p:cNvSpPr>
          <p:nvPr/>
        </p:nvSpPr>
        <p:spPr>
          <a:xfrm>
            <a:off x="4400550" y="435292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90" name="junction-555-460">
            <a:extLst>
              <a:ext uri="{FF2B5EF4-FFF2-40B4-BE49-F238E27FC236}">
                <a16:creationId xmlns:a16="http://schemas.microsoft.com/office/drawing/2014/main" id="{8DE15BD7-03FF-4244-9480-BBCC4031A38F}"/>
              </a:ext>
            </a:extLst>
          </p:cNvPr>
          <p:cNvSpPr>
            <a:spLocks noGrp="1"/>
          </p:cNvSpPr>
          <p:nvPr/>
        </p:nvSpPr>
        <p:spPr>
          <a:xfrm>
            <a:off x="5257800" y="435292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91" name="junction-610-460">
            <a:extLst>
              <a:ext uri="{FF2B5EF4-FFF2-40B4-BE49-F238E27FC236}">
                <a16:creationId xmlns:a16="http://schemas.microsoft.com/office/drawing/2014/main" id="{7E46A63C-14E9-4238-BAF9-69BBF2086D6B}"/>
              </a:ext>
            </a:extLst>
          </p:cNvPr>
          <p:cNvSpPr>
            <a:spLocks noGrp="1"/>
          </p:cNvSpPr>
          <p:nvPr/>
        </p:nvSpPr>
        <p:spPr>
          <a:xfrm>
            <a:off x="5781675" y="435292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92" name="TP1-stem">
            <a:extLst>
              <a:ext uri="{FF2B5EF4-FFF2-40B4-BE49-F238E27FC236}">
                <a16:creationId xmlns:a16="http://schemas.microsoft.com/office/drawing/2014/main" id="{0E22B57A-2763-4302-8A7F-A4D22C5AE375}"/>
              </a:ext>
            </a:extLst>
          </p:cNvPr>
          <p:cNvSpPr>
            <a:spLocks noGrp="1"/>
          </p:cNvSpPr>
          <p:nvPr/>
        </p:nvSpPr>
        <p:spPr>
          <a:xfrm>
            <a:off x="2667000" y="2495550"/>
            <a:ext cx="0" cy="1905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93" name="TP1-probe">
            <a:extLst>
              <a:ext uri="{FF2B5EF4-FFF2-40B4-BE49-F238E27FC236}">
                <a16:creationId xmlns:a16="http://schemas.microsoft.com/office/drawing/2014/main" id="{C4D56B6C-0C6C-4636-B567-A200D63DC043}"/>
              </a:ext>
            </a:extLst>
          </p:cNvPr>
          <p:cNvSpPr>
            <a:spLocks noGrp="1"/>
          </p:cNvSpPr>
          <p:nvPr/>
        </p:nvSpPr>
        <p:spPr>
          <a:xfrm>
            <a:off x="2628900" y="241935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94" name="TP1-junction">
            <a:extLst>
              <a:ext uri="{FF2B5EF4-FFF2-40B4-BE49-F238E27FC236}">
                <a16:creationId xmlns:a16="http://schemas.microsoft.com/office/drawing/2014/main" id="{9690C426-1A4B-403D-8A77-9DB29E3B9C9D}"/>
              </a:ext>
            </a:extLst>
          </p:cNvPr>
          <p:cNvSpPr>
            <a:spLocks noGrp="1"/>
          </p:cNvSpPr>
          <p:nvPr/>
        </p:nvSpPr>
        <p:spPr>
          <a:xfrm>
            <a:off x="2638425" y="265747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95" name="TP1-label">
            <a:extLst>
              <a:ext uri="{FF2B5EF4-FFF2-40B4-BE49-F238E27FC236}">
                <a16:creationId xmlns:a16="http://schemas.microsoft.com/office/drawing/2014/main" id="{3306440A-D577-41AD-B4F7-4FD5B89F2A08}"/>
              </a:ext>
            </a:extLst>
          </p:cNvPr>
          <p:cNvSpPr>
            <a:spLocks noGrp="1"/>
          </p:cNvSpPr>
          <p:nvPr/>
        </p:nvSpPr>
        <p:spPr>
          <a:xfrm>
            <a:off x="2428875" y="2181225"/>
            <a:ext cx="5905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TP1</a:t>
            </a:r>
          </a:p>
        </p:txBody>
      </p:sp>
      <p:sp>
        <p:nvSpPr>
          <p:cNvPr id="96" name="TP2-stem">
            <a:extLst>
              <a:ext uri="{FF2B5EF4-FFF2-40B4-BE49-F238E27FC236}">
                <a16:creationId xmlns:a16="http://schemas.microsoft.com/office/drawing/2014/main" id="{F57359F1-5EF5-443C-B3EA-94A0A14D8409}"/>
              </a:ext>
            </a:extLst>
          </p:cNvPr>
          <p:cNvSpPr>
            <a:spLocks noGrp="1"/>
          </p:cNvSpPr>
          <p:nvPr/>
        </p:nvSpPr>
        <p:spPr>
          <a:xfrm>
            <a:off x="4667250" y="2495550"/>
            <a:ext cx="0" cy="1905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97" name="TP2-probe">
            <a:extLst>
              <a:ext uri="{FF2B5EF4-FFF2-40B4-BE49-F238E27FC236}">
                <a16:creationId xmlns:a16="http://schemas.microsoft.com/office/drawing/2014/main" id="{5BCA24A1-2DF0-4649-865C-61FA05B7CDF8}"/>
              </a:ext>
            </a:extLst>
          </p:cNvPr>
          <p:cNvSpPr>
            <a:spLocks noGrp="1"/>
          </p:cNvSpPr>
          <p:nvPr/>
        </p:nvSpPr>
        <p:spPr>
          <a:xfrm>
            <a:off x="4629150" y="241935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98" name="TP2-junction">
            <a:extLst>
              <a:ext uri="{FF2B5EF4-FFF2-40B4-BE49-F238E27FC236}">
                <a16:creationId xmlns:a16="http://schemas.microsoft.com/office/drawing/2014/main" id="{D4208153-82DD-4134-8A05-2C226428C967}"/>
              </a:ext>
            </a:extLst>
          </p:cNvPr>
          <p:cNvSpPr>
            <a:spLocks noGrp="1"/>
          </p:cNvSpPr>
          <p:nvPr/>
        </p:nvSpPr>
        <p:spPr>
          <a:xfrm>
            <a:off x="4638675" y="265747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99" name="TP2-label">
            <a:extLst>
              <a:ext uri="{FF2B5EF4-FFF2-40B4-BE49-F238E27FC236}">
                <a16:creationId xmlns:a16="http://schemas.microsoft.com/office/drawing/2014/main" id="{1981FE1D-254C-4396-82A1-36C0E5F1F291}"/>
              </a:ext>
            </a:extLst>
          </p:cNvPr>
          <p:cNvSpPr>
            <a:spLocks noGrp="1"/>
          </p:cNvSpPr>
          <p:nvPr/>
        </p:nvSpPr>
        <p:spPr>
          <a:xfrm>
            <a:off x="4429125" y="2181225"/>
            <a:ext cx="5905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TP2</a:t>
            </a:r>
          </a:p>
        </p:txBody>
      </p:sp>
      <p:sp>
        <p:nvSpPr>
          <p:cNvPr id="100" name="TP3-stem">
            <a:extLst>
              <a:ext uri="{FF2B5EF4-FFF2-40B4-BE49-F238E27FC236}">
                <a16:creationId xmlns:a16="http://schemas.microsoft.com/office/drawing/2014/main" id="{B5B47237-AB7B-4002-A4C8-BED9CF24172D}"/>
              </a:ext>
            </a:extLst>
          </p:cNvPr>
          <p:cNvSpPr>
            <a:spLocks noGrp="1"/>
          </p:cNvSpPr>
          <p:nvPr/>
        </p:nvSpPr>
        <p:spPr>
          <a:xfrm>
            <a:off x="3429000" y="4381500"/>
            <a:ext cx="0" cy="17145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01" name="TP3-probe">
            <a:extLst>
              <a:ext uri="{FF2B5EF4-FFF2-40B4-BE49-F238E27FC236}">
                <a16:creationId xmlns:a16="http://schemas.microsoft.com/office/drawing/2014/main" id="{1D4193F9-8C07-4121-9DDF-3DBAB8FE40F0}"/>
              </a:ext>
            </a:extLst>
          </p:cNvPr>
          <p:cNvSpPr>
            <a:spLocks noGrp="1"/>
          </p:cNvSpPr>
          <p:nvPr/>
        </p:nvSpPr>
        <p:spPr>
          <a:xfrm>
            <a:off x="3390900" y="4552950"/>
            <a:ext cx="76200" cy="7620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6343D"/>
            </a:solidFill>
          </a:ln>
        </p:spPr>
      </p:sp>
      <p:sp>
        <p:nvSpPr>
          <p:cNvPr id="102" name="TP3-junction">
            <a:extLst>
              <a:ext uri="{FF2B5EF4-FFF2-40B4-BE49-F238E27FC236}">
                <a16:creationId xmlns:a16="http://schemas.microsoft.com/office/drawing/2014/main" id="{A8B45413-0046-4B6B-A6F8-015D1D6F081C}"/>
              </a:ext>
            </a:extLst>
          </p:cNvPr>
          <p:cNvSpPr>
            <a:spLocks noGrp="1"/>
          </p:cNvSpPr>
          <p:nvPr/>
        </p:nvSpPr>
        <p:spPr>
          <a:xfrm>
            <a:off x="3400425" y="4352925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103" name="TP3-label">
            <a:extLst>
              <a:ext uri="{FF2B5EF4-FFF2-40B4-BE49-F238E27FC236}">
                <a16:creationId xmlns:a16="http://schemas.microsoft.com/office/drawing/2014/main" id="{0C15EDD1-27A1-4E95-8531-C63B8FF0BA78}"/>
              </a:ext>
            </a:extLst>
          </p:cNvPr>
          <p:cNvSpPr>
            <a:spLocks noGrp="1"/>
          </p:cNvSpPr>
          <p:nvPr/>
        </p:nvSpPr>
        <p:spPr>
          <a:xfrm>
            <a:off x="3114675" y="4591050"/>
            <a:ext cx="55245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TP3</a:t>
            </a:r>
          </a:p>
        </p:txBody>
      </p:sp>
      <p:sp>
        <p:nvSpPr>
          <p:cNvPr id="104" name="common-stem">
            <a:extLst>
              <a:ext uri="{FF2B5EF4-FFF2-40B4-BE49-F238E27FC236}">
                <a16:creationId xmlns:a16="http://schemas.microsoft.com/office/drawing/2014/main" id="{F5C15ED9-21CC-4180-A0DA-7F64C631E3AD}"/>
              </a:ext>
            </a:extLst>
          </p:cNvPr>
          <p:cNvSpPr>
            <a:spLocks noGrp="1"/>
          </p:cNvSpPr>
          <p:nvPr/>
        </p:nvSpPr>
        <p:spPr>
          <a:xfrm>
            <a:off x="4000500" y="4381500"/>
            <a:ext cx="0" cy="762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05" name="common-signal-ground">
            <a:extLst>
              <a:ext uri="{FF2B5EF4-FFF2-40B4-BE49-F238E27FC236}">
                <a16:creationId xmlns:a16="http://schemas.microsoft.com/office/drawing/2014/main" id="{65AA8875-4168-4442-B493-C554FCD927E9}"/>
              </a:ext>
            </a:extLst>
          </p:cNvPr>
          <p:cNvSpPr>
            <a:spLocks noGrp="1"/>
          </p:cNvSpPr>
          <p:nvPr/>
        </p:nvSpPr>
        <p:spPr>
          <a:xfrm rot="10800000">
            <a:off x="3924300" y="4457700"/>
            <a:ext cx="152400" cy="95250"/>
          </a:xfrm>
          <a:prstGeom prst="triangle">
            <a:avLst/>
          </a:prstGeom>
          <a:noFill/>
          <a:ln w="14288">
            <a:solidFill>
              <a:srgbClr val="16343D"/>
            </a:solidFill>
            <a:prstDash val="solid"/>
          </a:ln>
        </p:spPr>
      </p:sp>
      <p:sp>
        <p:nvSpPr>
          <p:cNvPr id="106" name="ground-label">
            <a:extLst>
              <a:ext uri="{FF2B5EF4-FFF2-40B4-BE49-F238E27FC236}">
                <a16:creationId xmlns:a16="http://schemas.microsoft.com/office/drawing/2014/main" id="{CE8E9B77-4BDD-444E-8402-4E3108D88297}"/>
              </a:ext>
            </a:extLst>
          </p:cNvPr>
          <p:cNvSpPr>
            <a:spLocks noGrp="1"/>
          </p:cNvSpPr>
          <p:nvPr/>
        </p:nvSpPr>
        <p:spPr>
          <a:xfrm>
            <a:off x="4181475" y="45910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 / 0 V</a:t>
            </a:r>
          </a:p>
        </p:txBody>
      </p:sp>
      <p:sp>
        <p:nvSpPr>
          <p:cNvPr id="107" name="A2-A3-3V3_A2">
            <a:extLst>
              <a:ext uri="{FF2B5EF4-FFF2-40B4-BE49-F238E27FC236}">
                <a16:creationId xmlns:a16="http://schemas.microsoft.com/office/drawing/2014/main" id="{100DCFF4-EE9A-4833-B747-013F6AE18DE6}"/>
              </a:ext>
            </a:extLst>
          </p:cNvPr>
          <p:cNvSpPr>
            <a:spLocks noGrp="1"/>
          </p:cNvSpPr>
          <p:nvPr/>
        </p:nvSpPr>
        <p:spPr>
          <a:xfrm>
            <a:off x="8334375" y="3000375"/>
            <a:ext cx="20478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08" name="A2-A3-I2C_SDA">
            <a:extLst>
              <a:ext uri="{FF2B5EF4-FFF2-40B4-BE49-F238E27FC236}">
                <a16:creationId xmlns:a16="http://schemas.microsoft.com/office/drawing/2014/main" id="{363A4087-CFE9-43A5-B620-F6C53C880784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20478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09" name="A2-A3-I2C_SCL">
            <a:extLst>
              <a:ext uri="{FF2B5EF4-FFF2-40B4-BE49-F238E27FC236}">
                <a16:creationId xmlns:a16="http://schemas.microsoft.com/office/drawing/2014/main" id="{63DF7401-B580-4C20-9200-24F86EB398EB}"/>
              </a:ext>
            </a:extLst>
          </p:cNvPr>
          <p:cNvSpPr>
            <a:spLocks noGrp="1"/>
          </p:cNvSpPr>
          <p:nvPr/>
        </p:nvSpPr>
        <p:spPr>
          <a:xfrm>
            <a:off x="8334375" y="3952875"/>
            <a:ext cx="20478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10" name="A2-A3-GND">
            <a:extLst>
              <a:ext uri="{FF2B5EF4-FFF2-40B4-BE49-F238E27FC236}">
                <a16:creationId xmlns:a16="http://schemas.microsoft.com/office/drawing/2014/main" id="{FE549B4E-86E1-4614-929D-786C48327986}"/>
              </a:ext>
            </a:extLst>
          </p:cNvPr>
          <p:cNvSpPr>
            <a:spLocks noGrp="1"/>
          </p:cNvSpPr>
          <p:nvPr/>
        </p:nvSpPr>
        <p:spPr>
          <a:xfrm>
            <a:off x="8334375" y="4429125"/>
            <a:ext cx="2047875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11" name="oled-rail">
            <a:extLst>
              <a:ext uri="{FF2B5EF4-FFF2-40B4-BE49-F238E27FC236}">
                <a16:creationId xmlns:a16="http://schemas.microsoft.com/office/drawing/2014/main" id="{87C94A1F-D18F-4824-A538-4967DC10F613}"/>
              </a:ext>
            </a:extLst>
          </p:cNvPr>
          <p:cNvSpPr>
            <a:spLocks noGrp="1"/>
          </p:cNvSpPr>
          <p:nvPr/>
        </p:nvSpPr>
        <p:spPr>
          <a:xfrm>
            <a:off x="9648825" y="2762250"/>
            <a:ext cx="733425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87C71"/>
                </a:solidFill>
                <a:latin typeface="Arial"/>
                <a:ea typeface="Arial"/>
                <a:cs typeface="Arial"/>
              </a:rPr>
              <a:t>3V3_A2</a:t>
            </a:r>
          </a:p>
        </p:txBody>
      </p:sp>
      <p:sp>
        <p:nvSpPr>
          <p:cNvPr id="112" name="R3-top">
            <a:extLst>
              <a:ext uri="{FF2B5EF4-FFF2-40B4-BE49-F238E27FC236}">
                <a16:creationId xmlns:a16="http://schemas.microsoft.com/office/drawing/2014/main" id="{B1216FB7-BBA1-47EF-A67D-2F5C3333A3D7}"/>
              </a:ext>
            </a:extLst>
          </p:cNvPr>
          <p:cNvSpPr>
            <a:spLocks noGrp="1"/>
          </p:cNvSpPr>
          <p:nvPr/>
        </p:nvSpPr>
        <p:spPr>
          <a:xfrm>
            <a:off x="8934450" y="3000375"/>
            <a:ext cx="0" cy="17145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13" name="R3-symbol">
            <a:extLst>
              <a:ext uri="{FF2B5EF4-FFF2-40B4-BE49-F238E27FC236}">
                <a16:creationId xmlns:a16="http://schemas.microsoft.com/office/drawing/2014/main" id="{5D5A28AF-1F35-4B9C-98E2-00226FD8A6F8}"/>
              </a:ext>
            </a:extLst>
          </p:cNvPr>
          <p:cNvSpPr>
            <a:spLocks noGrp="1"/>
          </p:cNvSpPr>
          <p:nvPr/>
        </p:nvSpPr>
        <p:spPr>
          <a:xfrm>
            <a:off x="8858250" y="3171825"/>
            <a:ext cx="152400" cy="180975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114" name="R3-bottom">
            <a:extLst>
              <a:ext uri="{FF2B5EF4-FFF2-40B4-BE49-F238E27FC236}">
                <a16:creationId xmlns:a16="http://schemas.microsoft.com/office/drawing/2014/main" id="{38BFD954-4CB1-4CC5-AD75-47871EF79E9B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0" cy="123825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15" name="R3-rail-junction">
            <a:extLst>
              <a:ext uri="{FF2B5EF4-FFF2-40B4-BE49-F238E27FC236}">
                <a16:creationId xmlns:a16="http://schemas.microsoft.com/office/drawing/2014/main" id="{4D7A5010-7BC8-42AC-8F32-ED2B6A1A904E}"/>
              </a:ext>
            </a:extLst>
          </p:cNvPr>
          <p:cNvSpPr>
            <a:spLocks noGrp="1"/>
          </p:cNvSpPr>
          <p:nvPr/>
        </p:nvSpPr>
        <p:spPr>
          <a:xfrm>
            <a:off x="8905875" y="2971800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116" name="R3-bus-junction">
            <a:extLst>
              <a:ext uri="{FF2B5EF4-FFF2-40B4-BE49-F238E27FC236}">
                <a16:creationId xmlns:a16="http://schemas.microsoft.com/office/drawing/2014/main" id="{98F99722-8C6E-4AC2-A97C-1E3748118AF7}"/>
              </a:ext>
            </a:extLst>
          </p:cNvPr>
          <p:cNvSpPr>
            <a:spLocks noGrp="1"/>
          </p:cNvSpPr>
          <p:nvPr/>
        </p:nvSpPr>
        <p:spPr>
          <a:xfrm>
            <a:off x="8905875" y="3448050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117" name="R3-value">
            <a:extLst>
              <a:ext uri="{FF2B5EF4-FFF2-40B4-BE49-F238E27FC236}">
                <a16:creationId xmlns:a16="http://schemas.microsoft.com/office/drawing/2014/main" id="{1EE677BD-4140-442A-9686-430FF863BDC6}"/>
              </a:ext>
            </a:extLst>
          </p:cNvPr>
          <p:cNvSpPr>
            <a:spLocks noGrp="1"/>
          </p:cNvSpPr>
          <p:nvPr/>
        </p:nvSpPr>
        <p:spPr>
          <a:xfrm>
            <a:off x="8639175" y="2381250"/>
            <a:ext cx="714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R3 4k7</a:t>
            </a:r>
          </a:p>
          <a:p>
            <a: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DNP*</a:t>
            </a:r>
          </a:p>
        </p:txBody>
      </p:sp>
      <p:sp>
        <p:nvSpPr>
          <p:cNvPr id="118" name="R4-top">
            <a:extLst>
              <a:ext uri="{FF2B5EF4-FFF2-40B4-BE49-F238E27FC236}">
                <a16:creationId xmlns:a16="http://schemas.microsoft.com/office/drawing/2014/main" id="{551896FA-60CE-4B20-A5D8-97036645F36E}"/>
              </a:ext>
            </a:extLst>
          </p:cNvPr>
          <p:cNvSpPr>
            <a:spLocks noGrp="1"/>
          </p:cNvSpPr>
          <p:nvPr/>
        </p:nvSpPr>
        <p:spPr>
          <a:xfrm>
            <a:off x="9696450" y="3000375"/>
            <a:ext cx="0" cy="17145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19" name="R4-symbol">
            <a:extLst>
              <a:ext uri="{FF2B5EF4-FFF2-40B4-BE49-F238E27FC236}">
                <a16:creationId xmlns:a16="http://schemas.microsoft.com/office/drawing/2014/main" id="{EB06615B-3ED9-4A8C-B87F-C9F987154DB0}"/>
              </a:ext>
            </a:extLst>
          </p:cNvPr>
          <p:cNvSpPr>
            <a:spLocks noGrp="1"/>
          </p:cNvSpPr>
          <p:nvPr/>
        </p:nvSpPr>
        <p:spPr>
          <a:xfrm>
            <a:off x="9620250" y="3171825"/>
            <a:ext cx="152400" cy="180975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120" name="R4-bottom">
            <a:extLst>
              <a:ext uri="{FF2B5EF4-FFF2-40B4-BE49-F238E27FC236}">
                <a16:creationId xmlns:a16="http://schemas.microsoft.com/office/drawing/2014/main" id="{8139FD95-BCC1-4A2C-BA59-93C1F58C52DC}"/>
              </a:ext>
            </a:extLst>
          </p:cNvPr>
          <p:cNvSpPr>
            <a:spLocks noGrp="1"/>
          </p:cNvSpPr>
          <p:nvPr/>
        </p:nvSpPr>
        <p:spPr>
          <a:xfrm>
            <a:off x="9696450" y="3352800"/>
            <a:ext cx="0" cy="600075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21" name="R4-rail-junction">
            <a:extLst>
              <a:ext uri="{FF2B5EF4-FFF2-40B4-BE49-F238E27FC236}">
                <a16:creationId xmlns:a16="http://schemas.microsoft.com/office/drawing/2014/main" id="{2B0E94CD-58C1-4DC4-B47E-D7477D9CEB46}"/>
              </a:ext>
            </a:extLst>
          </p:cNvPr>
          <p:cNvSpPr>
            <a:spLocks noGrp="1"/>
          </p:cNvSpPr>
          <p:nvPr/>
        </p:nvSpPr>
        <p:spPr>
          <a:xfrm>
            <a:off x="9667875" y="2971800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122" name="R4-bus-junction">
            <a:extLst>
              <a:ext uri="{FF2B5EF4-FFF2-40B4-BE49-F238E27FC236}">
                <a16:creationId xmlns:a16="http://schemas.microsoft.com/office/drawing/2014/main" id="{AD95E54C-FD68-4260-A72E-F120B346DBA5}"/>
              </a:ext>
            </a:extLst>
          </p:cNvPr>
          <p:cNvSpPr>
            <a:spLocks noGrp="1"/>
          </p:cNvSpPr>
          <p:nvPr/>
        </p:nvSpPr>
        <p:spPr>
          <a:xfrm>
            <a:off x="9667875" y="3924300"/>
            <a:ext cx="57150" cy="57150"/>
          </a:xfrm>
          <a:prstGeom prst="ellipse">
            <a:avLst/>
          </a:prstGeom>
          <a:solidFill>
            <a:srgbClr val="16343D"/>
          </a:solidFill>
          <a:ln w="12383">
            <a:solidFill>
              <a:srgbClr val="16343D"/>
            </a:solidFill>
          </a:ln>
        </p:spPr>
      </p:sp>
      <p:sp>
        <p:nvSpPr>
          <p:cNvPr id="123" name="R4-value">
            <a:extLst>
              <a:ext uri="{FF2B5EF4-FFF2-40B4-BE49-F238E27FC236}">
                <a16:creationId xmlns:a16="http://schemas.microsoft.com/office/drawing/2014/main" id="{7E25D12F-B23C-40BA-8B0B-4D5032D8DB64}"/>
              </a:ext>
            </a:extLst>
          </p:cNvPr>
          <p:cNvSpPr>
            <a:spLocks noGrp="1"/>
          </p:cNvSpPr>
          <p:nvPr/>
        </p:nvSpPr>
        <p:spPr>
          <a:xfrm>
            <a:off x="9401175" y="2381250"/>
            <a:ext cx="714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R4 4k7</a:t>
            </a:r>
          </a:p>
          <a:p>
            <a:pPr algn="l">
              <a:buNone/>
              <a:defRPr sz="938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DNP*</a:t>
            </a:r>
          </a:p>
        </p:txBody>
      </p:sp>
      <p:sp>
        <p:nvSpPr>
          <p:cNvPr id="124" name="C2-power-net">
            <a:extLst>
              <a:ext uri="{FF2B5EF4-FFF2-40B4-BE49-F238E27FC236}">
                <a16:creationId xmlns:a16="http://schemas.microsoft.com/office/drawing/2014/main" id="{3E0A53EB-C932-4A08-BB84-14ADDC337760}"/>
              </a:ext>
            </a:extLst>
          </p:cNvPr>
          <p:cNvSpPr>
            <a:spLocks noGrp="1"/>
          </p:cNvSpPr>
          <p:nvPr/>
        </p:nvSpPr>
        <p:spPr>
          <a:xfrm>
            <a:off x="10601325" y="4810125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087C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1"/>
                </a:solidFill>
                <a:latin typeface="Arial"/>
                <a:ea typeface="Arial"/>
                <a:cs typeface="Arial"/>
              </a:rPr>
              <a:t>3V3_A2</a:t>
            </a:r>
          </a:p>
        </p:txBody>
      </p:sp>
      <p:sp>
        <p:nvSpPr>
          <p:cNvPr id="125" name="C2-power">
            <a:extLst>
              <a:ext uri="{FF2B5EF4-FFF2-40B4-BE49-F238E27FC236}">
                <a16:creationId xmlns:a16="http://schemas.microsoft.com/office/drawing/2014/main" id="{0CC99BC5-0133-4456-A42B-5912B7A57F60}"/>
              </a:ext>
            </a:extLst>
          </p:cNvPr>
          <p:cNvSpPr>
            <a:spLocks noGrp="1"/>
          </p:cNvSpPr>
          <p:nvPr/>
        </p:nvSpPr>
        <p:spPr>
          <a:xfrm>
            <a:off x="10925175" y="5019675"/>
            <a:ext cx="0" cy="123825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26" name="C2-plate-1">
            <a:extLst>
              <a:ext uri="{FF2B5EF4-FFF2-40B4-BE49-F238E27FC236}">
                <a16:creationId xmlns:a16="http://schemas.microsoft.com/office/drawing/2014/main" id="{37E79E74-9B45-4D0A-A6C2-9172BCE7E5EC}"/>
              </a:ext>
            </a:extLst>
          </p:cNvPr>
          <p:cNvSpPr>
            <a:spLocks noGrp="1"/>
          </p:cNvSpPr>
          <p:nvPr/>
        </p:nvSpPr>
        <p:spPr>
          <a:xfrm>
            <a:off x="10753725" y="5143500"/>
            <a:ext cx="34290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27" name="C2-plate-2">
            <a:extLst>
              <a:ext uri="{FF2B5EF4-FFF2-40B4-BE49-F238E27FC236}">
                <a16:creationId xmlns:a16="http://schemas.microsoft.com/office/drawing/2014/main" id="{6F3BE37A-858B-4E40-A407-1554A5053BAA}"/>
              </a:ext>
            </a:extLst>
          </p:cNvPr>
          <p:cNvSpPr>
            <a:spLocks noGrp="1"/>
          </p:cNvSpPr>
          <p:nvPr/>
        </p:nvSpPr>
        <p:spPr>
          <a:xfrm>
            <a:off x="10753725" y="5248275"/>
            <a:ext cx="342900" cy="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28" name="C2-ground">
            <a:extLst>
              <a:ext uri="{FF2B5EF4-FFF2-40B4-BE49-F238E27FC236}">
                <a16:creationId xmlns:a16="http://schemas.microsoft.com/office/drawing/2014/main" id="{463DE0C3-26B8-407C-B6AA-9054A4A14AC4}"/>
              </a:ext>
            </a:extLst>
          </p:cNvPr>
          <p:cNvSpPr>
            <a:spLocks noGrp="1"/>
          </p:cNvSpPr>
          <p:nvPr/>
        </p:nvSpPr>
        <p:spPr>
          <a:xfrm>
            <a:off x="10925175" y="5248275"/>
            <a:ext cx="0" cy="1143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29" name="C2-stem">
            <a:extLst>
              <a:ext uri="{FF2B5EF4-FFF2-40B4-BE49-F238E27FC236}">
                <a16:creationId xmlns:a16="http://schemas.microsoft.com/office/drawing/2014/main" id="{E98650A5-A1C9-4FAA-855D-34818670A62C}"/>
              </a:ext>
            </a:extLst>
          </p:cNvPr>
          <p:cNvSpPr>
            <a:spLocks noGrp="1"/>
          </p:cNvSpPr>
          <p:nvPr/>
        </p:nvSpPr>
        <p:spPr>
          <a:xfrm>
            <a:off x="10925175" y="5362575"/>
            <a:ext cx="0" cy="76200"/>
          </a:xfrm>
          <a:prstGeom prst="line">
            <a:avLst/>
          </a:prstGeom>
          <a:ln w="17145">
            <a:solidFill>
              <a:srgbClr val="16343D"/>
            </a:solidFill>
            <a:prstDash val="solid"/>
          </a:ln>
        </p:spPr>
      </p:sp>
      <p:sp>
        <p:nvSpPr>
          <p:cNvPr id="130" name="C2-signal-ground">
            <a:extLst>
              <a:ext uri="{FF2B5EF4-FFF2-40B4-BE49-F238E27FC236}">
                <a16:creationId xmlns:a16="http://schemas.microsoft.com/office/drawing/2014/main" id="{CFD34FB2-C24A-42DB-9B71-611E0858FC0F}"/>
              </a:ext>
            </a:extLst>
          </p:cNvPr>
          <p:cNvSpPr>
            <a:spLocks noGrp="1"/>
          </p:cNvSpPr>
          <p:nvPr/>
        </p:nvSpPr>
        <p:spPr>
          <a:xfrm rot="10800000">
            <a:off x="10848975" y="5438775"/>
            <a:ext cx="152400" cy="95250"/>
          </a:xfrm>
          <a:prstGeom prst="triangle">
            <a:avLst/>
          </a:prstGeom>
          <a:noFill/>
          <a:ln w="14288">
            <a:solidFill>
              <a:srgbClr val="16343D"/>
            </a:solidFill>
            <a:prstDash val="solid"/>
          </a:ln>
        </p:spPr>
      </p:sp>
      <p:sp>
        <p:nvSpPr>
          <p:cNvPr id="131" name="C2-value">
            <a:extLst>
              <a:ext uri="{FF2B5EF4-FFF2-40B4-BE49-F238E27FC236}">
                <a16:creationId xmlns:a16="http://schemas.microsoft.com/office/drawing/2014/main" id="{FEED1E50-9067-48DD-B166-0AC64EC0B507}"/>
              </a:ext>
            </a:extLst>
          </p:cNvPr>
          <p:cNvSpPr>
            <a:spLocks noGrp="1"/>
          </p:cNvSpPr>
          <p:nvPr/>
        </p:nvSpPr>
        <p:spPr>
          <a:xfrm>
            <a:off x="9667875" y="5048250"/>
            <a:ext cx="1047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C2</a:t>
            </a:r>
          </a:p>
          <a:p>
            <a:pPr algn="l">
              <a:buNone/>
              <a:defRPr sz="1013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100 nF / 50 V</a:t>
            </a:r>
          </a:p>
        </p:txBody>
      </p:sp>
      <p:sp>
        <p:nvSpPr>
          <p:cNvPr id="132" name="C2-placement">
            <a:extLst>
              <a:ext uri="{FF2B5EF4-FFF2-40B4-BE49-F238E27FC236}">
                <a16:creationId xmlns:a16="http://schemas.microsoft.com/office/drawing/2014/main" id="{A5112D29-A217-4B2D-A321-7A0C492A4CB4}"/>
              </a:ext>
            </a:extLst>
          </p:cNvPr>
          <p:cNvSpPr>
            <a:spLocks noGrp="1"/>
          </p:cNvSpPr>
          <p:nvPr/>
        </p:nvSpPr>
        <p:spPr>
          <a:xfrm>
            <a:off x="10601325" y="5610225"/>
            <a:ext cx="9525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F6870"/>
                </a:solidFill>
                <a:latin typeface="Arial"/>
                <a:ea typeface="Arial"/>
                <a:cs typeface="Arial"/>
              </a:rPr>
              <a:t>sát A3</a:t>
            </a:r>
          </a:p>
        </p:txBody>
      </p:sp>
      <p:sp>
        <p:nvSpPr>
          <p:cNvPr id="133" name="C2-ground-net">
            <a:extLst>
              <a:ext uri="{FF2B5EF4-FFF2-40B4-BE49-F238E27FC236}">
                <a16:creationId xmlns:a16="http://schemas.microsoft.com/office/drawing/2014/main" id="{28703E0D-8369-4EE3-B604-037AE6863180}"/>
              </a:ext>
            </a:extLst>
          </p:cNvPr>
          <p:cNvSpPr>
            <a:spLocks noGrp="1"/>
          </p:cNvSpPr>
          <p:nvPr/>
        </p:nvSpPr>
        <p:spPr>
          <a:xfrm>
            <a:off x="11134725" y="5324475"/>
            <a:ext cx="5810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GND</a:t>
            </a:r>
          </a:p>
        </p:txBody>
      </p:sp>
      <p:sp>
        <p:nvSpPr>
          <p:cNvPr id="134" name="drawing-note-1">
            <a:extLst>
              <a:ext uri="{FF2B5EF4-FFF2-40B4-BE49-F238E27FC236}">
                <a16:creationId xmlns:a16="http://schemas.microsoft.com/office/drawing/2014/main" id="{DDE92545-D4C6-4DE5-A5BC-0301577EC7F5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9048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1. Chấm đen: dây nối. Dây giao nhau không có chấm: không nối.</a:t>
            </a:r>
          </a:p>
        </p:txBody>
      </p:sp>
      <p:sp>
        <p:nvSpPr>
          <p:cNvPr id="135" name="drawing-note-2">
            <a:extLst>
              <a:ext uri="{FF2B5EF4-FFF2-40B4-BE49-F238E27FC236}">
                <a16:creationId xmlns:a16="http://schemas.microsoft.com/office/drawing/2014/main" id="{F2749528-2CD6-453E-A50E-883772676AD0}"/>
              </a:ext>
            </a:extLst>
          </p:cNvPr>
          <p:cNvSpPr>
            <a:spLocks noGrp="1"/>
          </p:cNvSpPr>
          <p:nvPr/>
        </p:nvSpPr>
        <p:spPr>
          <a:xfrm>
            <a:off x="571500" y="5191125"/>
            <a:ext cx="9048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2. Nếu OLED đã có điện trở kéo lên, để R3/R4 trống (DNP). Điện trở tổng: 1,1–5,1 kΩ; điện dung bus ≤200 pF.</a:t>
            </a:r>
          </a:p>
        </p:txBody>
      </p:sp>
      <p:sp>
        <p:nvSpPr>
          <p:cNvPr id="136" name="drawing-note-3">
            <a:extLst>
              <a:ext uri="{FF2B5EF4-FFF2-40B4-BE49-F238E27FC236}">
                <a16:creationId xmlns:a16="http://schemas.microsoft.com/office/drawing/2014/main" id="{E9489528-4A5B-4C47-BD3D-E5F8A393C924}"/>
              </a:ext>
            </a:extLst>
          </p:cNvPr>
          <p:cNvSpPr>
            <a:spLocks noGrp="1"/>
          </p:cNvSpPr>
          <p:nvPr/>
        </p:nvSpPr>
        <p:spPr>
          <a:xfrm>
            <a:off x="571500" y="5438775"/>
            <a:ext cx="9048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3. Nếu OLED chưa có điện trở kéo lên, lắp R3/R4 = 4,7 kΩ. I²C: 100 kHz. Đặt C1 gần ADC, C2 gần OLED. Cấp USB riêng; không nối 5 V.</a:t>
            </a:r>
          </a:p>
        </p:txBody>
      </p:sp>
      <p:sp>
        <p:nvSpPr>
          <p:cNvPr id="137" name="drawing-note-4">
            <a:extLst>
              <a:ext uri="{FF2B5EF4-FFF2-40B4-BE49-F238E27FC236}">
                <a16:creationId xmlns:a16="http://schemas.microsoft.com/office/drawing/2014/main" id="{86DC411B-5EEE-4014-8144-DD635CD3DF5B}"/>
              </a:ext>
            </a:extLst>
          </p:cNvPr>
          <p:cNvSpPr>
            <a:spLocks noGrp="1"/>
          </p:cNvSpPr>
          <p:nvPr/>
        </p:nvSpPr>
        <p:spPr>
          <a:xfrm>
            <a:off x="571500" y="5686425"/>
            <a:ext cx="9048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4. Đo TP1, TP2 so với TP3. TP2 ≤2,85 V. Hai đường 3,3 V cần nằm trong ±5%.</a:t>
            </a:r>
          </a:p>
        </p:txBody>
      </p:sp>
      <p:sp>
        <p:nvSpPr>
          <p:cNvPr id="138" name="drawing-title-block">
            <a:extLst>
              <a:ext uri="{FF2B5EF4-FFF2-40B4-BE49-F238E27FC236}">
                <a16:creationId xmlns:a16="http://schemas.microsoft.com/office/drawing/2014/main" id="{6BF10BA1-3F85-4CCD-B403-1B9ABBE9EE09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1163300" cy="53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6343D"/>
            </a:solidFill>
            <a:prstDash val="solid"/>
          </a:ln>
        </p:spPr>
      </p:sp>
      <p:sp>
        <p:nvSpPr>
          <p:cNvPr id="139" name="title-col-1">
            <a:extLst>
              <a:ext uri="{FF2B5EF4-FFF2-40B4-BE49-F238E27FC236}">
                <a16:creationId xmlns:a16="http://schemas.microsoft.com/office/drawing/2014/main" id="{DE2EC7F6-2E26-4492-BA06-A888029D4F93}"/>
              </a:ext>
            </a:extLst>
          </p:cNvPr>
          <p:cNvSpPr>
            <a:spLocks noGrp="1"/>
          </p:cNvSpPr>
          <p:nvPr/>
        </p:nvSpPr>
        <p:spPr>
          <a:xfrm>
            <a:off x="4895850" y="6172200"/>
            <a:ext cx="0" cy="285750"/>
          </a:xfrm>
          <a:prstGeom prst="line">
            <a:avLst/>
          </a:prstGeom>
          <a:ln w="7620">
            <a:solidFill>
              <a:srgbClr val="16343D"/>
            </a:solidFill>
            <a:prstDash val="solid"/>
          </a:ln>
        </p:spPr>
      </p:sp>
      <p:sp>
        <p:nvSpPr>
          <p:cNvPr id="140" name="title-col-2">
            <a:extLst>
              <a:ext uri="{FF2B5EF4-FFF2-40B4-BE49-F238E27FC236}">
                <a16:creationId xmlns:a16="http://schemas.microsoft.com/office/drawing/2014/main" id="{288E217B-5940-4755-BD57-880CA1E218D7}"/>
              </a:ext>
            </a:extLst>
          </p:cNvPr>
          <p:cNvSpPr>
            <a:spLocks noGrp="1"/>
          </p:cNvSpPr>
          <p:nvPr/>
        </p:nvSpPr>
        <p:spPr>
          <a:xfrm>
            <a:off x="7400925" y="6172200"/>
            <a:ext cx="0" cy="285750"/>
          </a:xfrm>
          <a:prstGeom prst="line">
            <a:avLst/>
          </a:prstGeom>
          <a:ln w="7620">
            <a:solidFill>
              <a:srgbClr val="16343D"/>
            </a:solidFill>
            <a:prstDash val="solid"/>
          </a:ln>
        </p:spPr>
      </p:sp>
      <p:sp>
        <p:nvSpPr>
          <p:cNvPr id="141" name="title-col-3">
            <a:extLst>
              <a:ext uri="{FF2B5EF4-FFF2-40B4-BE49-F238E27FC236}">
                <a16:creationId xmlns:a16="http://schemas.microsoft.com/office/drawing/2014/main" id="{3E2D31A1-C63A-40AD-B6A3-320105FA8131}"/>
              </a:ext>
            </a:extLst>
          </p:cNvPr>
          <p:cNvSpPr>
            <a:spLocks noGrp="1"/>
          </p:cNvSpPr>
          <p:nvPr/>
        </p:nvSpPr>
        <p:spPr>
          <a:xfrm>
            <a:off x="8705850" y="6172200"/>
            <a:ext cx="0" cy="285750"/>
          </a:xfrm>
          <a:prstGeom prst="line">
            <a:avLst/>
          </a:prstGeom>
          <a:ln w="7620">
            <a:solidFill>
              <a:srgbClr val="16343D"/>
            </a:solidFill>
            <a:prstDash val="solid"/>
          </a:ln>
        </p:spPr>
      </p:sp>
      <p:sp>
        <p:nvSpPr>
          <p:cNvPr id="142" name="drawing-id">
            <a:extLst>
              <a:ext uri="{FF2B5EF4-FFF2-40B4-BE49-F238E27FC236}">
                <a16:creationId xmlns:a16="http://schemas.microsoft.com/office/drawing/2014/main" id="{EF8979D6-2888-40EF-85C0-66CC4FA8C786}"/>
              </a:ext>
            </a:extLst>
          </p:cNvPr>
          <p:cNvSpPr>
            <a:spLocks noGrp="1"/>
          </p:cNvSpPr>
          <p:nvPr/>
        </p:nvSpPr>
        <p:spPr>
          <a:xfrm>
            <a:off x="676275" y="6210300"/>
            <a:ext cx="41052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RF-HIL-001  /  Liên kết nguyên mẫu HIL</a:t>
            </a:r>
          </a:p>
        </p:txBody>
      </p:sp>
      <p:sp>
        <p:nvSpPr>
          <p:cNvPr id="143" name="drawing-revision">
            <a:extLst>
              <a:ext uri="{FF2B5EF4-FFF2-40B4-BE49-F238E27FC236}">
                <a16:creationId xmlns:a16="http://schemas.microsoft.com/office/drawing/2014/main" id="{2A3EC5F8-4473-453D-866C-89C32E8FB0C6}"/>
              </a:ext>
            </a:extLst>
          </p:cNvPr>
          <p:cNvSpPr>
            <a:spLocks noGrp="1"/>
          </p:cNvSpPr>
          <p:nvPr/>
        </p:nvSpPr>
        <p:spPr>
          <a:xfrm>
            <a:off x="5010150" y="62103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Rev B  /  18-10-2026</a:t>
            </a:r>
          </a:p>
        </p:txBody>
      </p:sp>
      <p:sp>
        <p:nvSpPr>
          <p:cNvPr id="144" name="drawing-sheet">
            <a:extLst>
              <a:ext uri="{FF2B5EF4-FFF2-40B4-BE49-F238E27FC236}">
                <a16:creationId xmlns:a16="http://schemas.microsoft.com/office/drawing/2014/main" id="{2E3977E8-94E2-4024-A51D-339221A68AB5}"/>
              </a:ext>
            </a:extLst>
          </p:cNvPr>
          <p:cNvSpPr>
            <a:spLocks noGrp="1"/>
          </p:cNvSpPr>
          <p:nvPr/>
        </p:nvSpPr>
        <p:spPr>
          <a:xfrm>
            <a:off x="7524750" y="621030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Tờ 1 / 1</a:t>
            </a:r>
          </a:p>
        </p:txBody>
      </p:sp>
      <p:sp>
        <p:nvSpPr>
          <p:cNvPr id="145" name="drawing-approval">
            <a:extLst>
              <a:ext uri="{FF2B5EF4-FFF2-40B4-BE49-F238E27FC236}">
                <a16:creationId xmlns:a16="http://schemas.microsoft.com/office/drawing/2014/main" id="{FDE1B09C-6AE8-4E63-AF36-318FBA489256}"/>
              </a:ext>
            </a:extLst>
          </p:cNvPr>
          <p:cNvSpPr>
            <a:spLocks noGrp="1"/>
          </p:cNvSpPr>
          <p:nvPr/>
        </p:nvSpPr>
        <p:spPr>
          <a:xfrm>
            <a:off x="8829675" y="6210300"/>
            <a:ext cx="2809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Duyệt: chưa phê duyệt</a:t>
            </a:r>
          </a:p>
        </p:txBody>
      </p:sp>
      <p:sp>
        <p:nvSpPr>
          <p:cNvPr id="146" name="title-row">
            <a:extLst>
              <a:ext uri="{FF2B5EF4-FFF2-40B4-BE49-F238E27FC236}">
                <a16:creationId xmlns:a16="http://schemas.microsoft.com/office/drawing/2014/main" id="{BDCF4557-51C7-478C-84EC-BE612F16D9BB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11163300" cy="0"/>
          </a:xfrm>
          <a:prstGeom prst="line">
            <a:avLst/>
          </a:prstGeom>
          <a:ln w="7620">
            <a:solidFill>
              <a:srgbClr val="16343D"/>
            </a:solidFill>
            <a:prstDash val="solid"/>
          </a:ln>
        </p:spPr>
      </p:sp>
      <p:sp>
        <p:nvSpPr>
          <p:cNvPr id="147" name="drawing-status">
            <a:extLst>
              <a:ext uri="{FF2B5EF4-FFF2-40B4-BE49-F238E27FC236}">
                <a16:creationId xmlns:a16="http://schemas.microsoft.com/office/drawing/2014/main" id="{68C7E055-B6DA-4C4B-A27E-5D38C0EBC3B8}"/>
              </a:ext>
            </a:extLst>
          </p:cNvPr>
          <p:cNvSpPr>
            <a:spLocks noGrp="1"/>
          </p:cNvSpPr>
          <p:nvPr/>
        </p:nvSpPr>
        <p:spPr>
          <a:xfrm>
            <a:off x="676275" y="6477000"/>
            <a:ext cx="1095375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0">
                <a:solidFill>
                  <a:srgbClr val="4F687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F6870"/>
                </a:solidFill>
                <a:latin typeface="Arial"/>
                <a:ea typeface="Arial"/>
                <a:cs typeface="Arial"/>
              </a:rPr>
              <a:t>NGUYÊN MẪU HIL  /  Chưa dùng cho sản xuất  /  Sơ đồ theo module, không phải thiết kế PCB</a:t>
            </a:r>
          </a:p>
        </p:txBody>
      </p:sp>
    </p:spTree>
    <p:extLst>
      <p:ext uri="{BB962C8B-B14F-4D97-AF65-F5344CB8AC3E}">
        <p14:creationId xmlns:p14="http://schemas.microsoft.com/office/powerpoint/2010/main" val="69652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2-title">
            <a:extLst>
              <a:ext uri="{FF2B5EF4-FFF2-40B4-BE49-F238E27FC236}">
                <a16:creationId xmlns:a16="http://schemas.microsoft.com/office/drawing/2014/main" id="{034C72CA-02EE-498E-B864-E62DFBC6D4E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300" b="1">
                <a:solidFill>
                  <a:srgbClr val="122F3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123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300" b="1">
                <a:solidFill>
                  <a:srgbClr val="122F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F38"/>
                </a:solidFill>
                <a:latin typeface="Arial"/>
                <a:ea typeface="Arial"/>
                <a:cs typeface="Arial"/>
              </a:rPr>
              <a:t>Phần cứng cần mua</a:t>
            </a:r>
          </a:p>
        </p:txBody>
      </p:sp>
      <p:sp>
        <p:nvSpPr>
          <p:cNvPr id="2" name="slide-2-strap">
            <a:extLst>
              <a:ext uri="{FF2B5EF4-FFF2-40B4-BE49-F238E27FC236}">
                <a16:creationId xmlns:a16="http://schemas.microsoft.com/office/drawing/2014/main" id="{CCDA945B-098C-40A1-92CD-26DC4E042504}"/>
              </a:ext>
            </a:extLst>
          </p:cNvPr>
          <p:cNvSpPr>
            <a:spLocks noGrp="1"/>
          </p:cNvSpPr>
          <p:nvPr/>
        </p:nvSpPr>
        <p:spPr>
          <a:xfrm>
            <a:off x="628650" y="92392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0636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Danh sách cho 1 bộ; giá chưa gồm vận chuyển</a:t>
            </a:r>
          </a:p>
        </p:txBody>
      </p:sp>
      <p:sp>
        <p:nvSpPr>
          <p:cNvPr id="3" name="slide-2-header-rule">
            <a:extLst>
              <a:ext uri="{FF2B5EF4-FFF2-40B4-BE49-F238E27FC236}">
                <a16:creationId xmlns:a16="http://schemas.microsoft.com/office/drawing/2014/main" id="{BAF0D8F7-92C0-4F5A-B8B6-EB5AA020A098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9525"/>
          </a:xfrm>
          <a:prstGeom prst="line">
            <a:avLst/>
          </a:prstGeom>
          <a:noFill/>
          <a:ln w="9525">
            <a:solidFill>
              <a:srgbClr val="DCE6E1"/>
            </a:solidFill>
            <a:prstDash val="solid"/>
          </a:ln>
        </p:spPr>
      </p:sp>
      <p:sp>
        <p:nvSpPr>
          <p:cNvPr id="4" name="slide-2-index">
            <a:extLst>
              <a:ext uri="{FF2B5EF4-FFF2-40B4-BE49-F238E27FC236}">
                <a16:creationId xmlns:a16="http://schemas.microsoft.com/office/drawing/2014/main" id="{0E90741F-3021-4065-B55B-F9CAB1157E1A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668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50636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6A85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818A"/>
                </a:solidFill>
                <a:latin typeface="Arial"/>
                <a:ea typeface="Arial"/>
                <a:cs typeface="Arial"/>
              </a:rPr>
              <a:t>RELYFETAL  /  HIL</a:t>
            </a:r>
          </a:p>
        </p:txBody>
      </p:sp>
      <p:sp>
        <p:nvSpPr>
          <p:cNvPr id="6" name="purchase-note">
            <a:extLst>
              <a:ext uri="{FF2B5EF4-FFF2-40B4-BE49-F238E27FC236}">
                <a16:creationId xmlns:a16="http://schemas.microsoft.com/office/drawing/2014/main" id="{92C4DCEE-4399-445B-82AC-D8E9F347D46B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0868025" cy="1009650"/>
          </a:xfrm>
          <a:prstGeom prst="roundRect">
            <a:avLst>
              <a:gd name="adj" fmla="val 8527"/>
            </a:avLst>
          </a:prstGeom>
          <a:noFill/>
          <a:ln w="0">
            <a:noFill/>
          </a:ln>
        </p:spPr>
      </p:sp>
      <p:sp>
        <p:nvSpPr>
          <p:cNvPr id="7" name="purchase-note-heading">
            <a:extLst>
              <a:ext uri="{FF2B5EF4-FFF2-40B4-BE49-F238E27FC236}">
                <a16:creationId xmlns:a16="http://schemas.microsoft.com/office/drawing/2014/main" id="{A64D5465-0234-45C9-9C49-6C9C84652075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47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1">
                <a:solidFill>
                  <a:srgbClr val="007F7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C84B4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007F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4"/>
                </a:solidFill>
                <a:latin typeface="Arial"/>
                <a:ea typeface="Arial"/>
                <a:cs typeface="Arial"/>
              </a:rPr>
              <a:t>CẤU HÌNH REV B</a:t>
            </a:r>
          </a:p>
        </p:txBody>
      </p:sp>
      <p:sp>
        <p:nvSpPr>
          <p:cNvPr id="8" name="purchase-note-copy">
            <a:extLst>
              <a:ext uri="{FF2B5EF4-FFF2-40B4-BE49-F238E27FC236}">
                <a16:creationId xmlns:a16="http://schemas.microsoft.com/office/drawing/2014/main" id="{FF13BDD3-542A-43B0-A27D-5CE809F2CFE0}"/>
              </a:ext>
            </a:extLst>
          </p:cNvPr>
          <p:cNvSpPr>
            <a:spLocks noGrp="1"/>
          </p:cNvSpPr>
          <p:nvPr/>
        </p:nvSpPr>
        <p:spPr>
          <a:xfrm>
            <a:off x="628650" y="5876925"/>
            <a:ext cx="10868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75" b="0">
                <a:solidFill>
                  <a:srgbClr val="5A7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123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5A7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7076"/>
                </a:solidFill>
                <a:latin typeface="Arial"/>
                <a:ea typeface="Arial"/>
                <a:cs typeface="Arial"/>
              </a:rPr>
              <a:t>R3/R4 là linh kiện dự phòng, chưa tính giá. Trước khi mua, xác nhận phiên bản bo, nhãn chân và điện trở kéo lên.</a:t>
            </a:r>
          </a:p>
        </p:txBody>
      </p:sp>
      <p:sp>
        <p:nvSpPr>
          <p:cNvPr id="10" name="slide-2-page">
            <a:extLst>
              <a:ext uri="{FF2B5EF4-FFF2-40B4-BE49-F238E27FC236}">
                <a16:creationId xmlns:a16="http://schemas.microsoft.com/office/drawing/2014/main" id="{CAAB1113-D6FE-4806-8569-47C209020F6F}"/>
              </a:ext>
            </a:extLst>
          </p:cNvPr>
          <p:cNvSpPr>
            <a:spLocks noGrp="1"/>
          </p:cNvSpPr>
          <p:nvPr/>
        </p:nvSpPr>
        <p:spPr>
          <a:xfrm>
            <a:off x="10620375" y="6429375"/>
            <a:ext cx="866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007F74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74"/>
                </a:solidFill>
                <a:latin typeface="Arial"/>
                <a:ea typeface="Arial"/>
                <a:cs typeface="Arial"/>
              </a:rPr>
              <a:t>02 / 03</a:t>
            </a:r>
          </a:p>
        </p:txBody>
      </p:sp>
      <p:sp>
        <p:nvSpPr>
          <p:cNvPr id="11" name="total-label">
            <a:extLst>
              <a:ext uri="{FF2B5EF4-FFF2-40B4-BE49-F238E27FC236}">
                <a16:creationId xmlns:a16="http://schemas.microsoft.com/office/drawing/2014/main" id="{8A9DCF00-6D67-4B55-930A-192FF97EE27D}"/>
              </a:ext>
            </a:extLst>
          </p:cNvPr>
          <p:cNvSpPr>
            <a:spLocks noGrp="1"/>
          </p:cNvSpPr>
          <p:nvPr/>
        </p:nvSpPr>
        <p:spPr>
          <a:xfrm>
            <a:off x="9001125" y="371475"/>
            <a:ext cx="2495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88" b="1">
                <a:solidFill>
                  <a:srgbClr val="5A707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526B7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A707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A7076"/>
                </a:solidFill>
                <a:latin typeface="Arial"/>
                <a:ea typeface="Arial"/>
                <a:cs typeface="Arial"/>
              </a:rPr>
              <a:t>BỘ CƠ BẢN, CHƯA GỒM R3/R4</a:t>
            </a:r>
          </a:p>
        </p:txBody>
      </p:sp>
      <p:sp>
        <p:nvSpPr>
          <p:cNvPr id="12" name="total-value">
            <a:extLst>
              <a:ext uri="{FF2B5EF4-FFF2-40B4-BE49-F238E27FC236}">
                <a16:creationId xmlns:a16="http://schemas.microsoft.com/office/drawing/2014/main" id="{1D62128F-651E-428F-89AF-00178AB2881B}"/>
              </a:ext>
            </a:extLst>
          </p:cNvPr>
          <p:cNvSpPr>
            <a:spLocks noGrp="1"/>
          </p:cNvSpPr>
          <p:nvPr/>
        </p:nvSpPr>
        <p:spPr>
          <a:xfrm>
            <a:off x="8858250" y="542925"/>
            <a:ext cx="26384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2850" b="1">
                <a:solidFill>
                  <a:srgbClr val="007F74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2250" b="1">
                <a:solidFill>
                  <a:srgbClr val="0B78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2850" b="1">
                <a:solidFill>
                  <a:srgbClr val="007F7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F74"/>
                </a:solidFill>
                <a:latin typeface="Arial"/>
                <a:ea typeface="Arial"/>
                <a:cs typeface="Arial"/>
              </a:rPr>
              <a:t>≈622.000₫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5956A7-1386-4332-B98C-CBB3787FD3CE}"/>
              </a:ext>
            </a:extLst>
          </p:cNvPr>
          <p:cNvGraphicFramePr/>
          <p:nvPr/>
        </p:nvGraphicFramePr>
        <p:xfrm>
          <a:off x="628650" y="1666875"/>
          <a:ext cx="10868025" cy="3714750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5A7076"/>
                          </a:solidFill>
                          <a:latin typeface="Arial"/>
                          <a:ea typeface="Arial"/>
                          <a:cs typeface="Arial"/>
                        </a:rPr>
                        <a:t>SL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5A7076"/>
                          </a:solidFill>
                          <a:latin typeface="Arial"/>
                          <a:ea typeface="Arial"/>
                          <a:cs typeface="Arial"/>
                        </a:rPr>
                        <a:t>Linh kiện / cấu hình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75" b="1">
                          <a:solidFill>
                            <a:srgbClr val="5A7076"/>
                          </a:solidFill>
                          <a:latin typeface="Arial"/>
                          <a:ea typeface="Arial"/>
                          <a:cs typeface="Arial"/>
                        </a:rPr>
                        <a:t>Giá dự kiến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A1 ESP32 DevKit V1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ESP-WROOM-32, Micro-USB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109.000₫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A2 TMe ESP32-S3 Dev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WROOM-1 N8R8, USB-C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250.000₫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A3 OLED SSD1306, 0,96 in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I²C, 3,3 V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60.086₫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2 gói+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R1 10 kΩ + R2 39 kΩ, 1/4 W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R3/R4 4,7 kΩ dự phòng (để trống mặc định)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≈5.500₫ + R3/R4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3 món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Tụ C1/C2 100 nF/50 V + breadboard MB-102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Dây Dupont 40 sợi; tụ mua theo gói 10 chiếc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≈69.900₫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Cáp Micro-USB và USB-A sang USB-C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F38"/>
                          </a:solidFill>
                          <a:latin typeface="Arial"/>
                          <a:ea typeface="Arial"/>
                          <a:cs typeface="Arial"/>
                        </a:rPr>
                        <a:t>1 dây mỗi loại, dài 1 m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50" b="1">
                          <a:solidFill>
                            <a:srgbClr val="007F74"/>
                          </a:solidFill>
                          <a:latin typeface="Arial"/>
                          <a:ea typeface="Arial"/>
                          <a:cs typeface="Arial"/>
                        </a:rPr>
                        <a:t>≈127.300₫</a:t>
                      </a:r>
                    </a:p>
                  </a:txBody>
                  <a:tcPr marL="114300" marR="152400" marT="28575" marB="28575" anchor="ctr">
                    <a:lnL w="5715">
                      <a:noFill/>
                    </a:lnL>
                    <a:lnR w="5715">
                      <a:noFill/>
                    </a:lnR>
                    <a:lnT w="5715">
                      <a:solidFill>
                        <a:srgbClr val="DFE7E2"/>
                      </a:solidFill>
                      <a:prstDash val="solid"/>
                    </a:lnT>
                    <a:lnB w="5715">
                      <a:solidFill>
                        <a:srgbClr val="DFE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6429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2113</Words>
  <Application>Microsoft Macintosh PowerPoint</Application>
  <DocSecurity>0</DocSecurity>
  <PresentationFormat>Widescreen</PresentationFormat>
  <Paragraphs>132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Xuân Khánh Lê</cp:lastModifiedBy>
  <cp:revision>1</cp:revision>
  <dcterms:created xsi:type="dcterms:W3CDTF">2026-10-18T07:55:21Z</dcterms:created>
  <dcterms:modified xsi:type="dcterms:W3CDTF">2026-10-18T09:01:05Z</dcterms:modified>
</cp:coreProperties>
</file>